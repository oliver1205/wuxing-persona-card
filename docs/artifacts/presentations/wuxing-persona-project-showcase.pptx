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9cbdbca3bfa4725" /><Relationship Type="http://schemas.openxmlformats.org/officeDocument/2006/relationships/extended-properties" Target="/docProps/app.xml" Id="R9e45d979a73b46fb" /><Relationship Type="http://schemas.openxmlformats.org/officeDocument/2006/relationships/officeDocument" Target="/ppt/presentation.xml" Id="R24f2ef1e010d4f7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ebd4154586745c7"/>
  </p:sldMasterIdLst>
  <p:notesMasterIdLst>
    <p:notesMasterId xmlns:r="http://schemas.openxmlformats.org/officeDocument/2006/relationships" r:id="Rfca02c5586904f09"/>
  </p:notesMasterIdLst>
  <p:sldIdLst>
    <p:sldId xmlns:r="http://schemas.openxmlformats.org/officeDocument/2006/relationships" id="256" r:id="Re38d691d46bd4310"/>
    <p:sldId xmlns:r="http://schemas.openxmlformats.org/officeDocument/2006/relationships" id="257" r:id="R883080476ce44601"/>
    <p:sldId xmlns:r="http://schemas.openxmlformats.org/officeDocument/2006/relationships" id="258" r:id="R326d6ca9f36f427e"/>
    <p:sldId xmlns:r="http://schemas.openxmlformats.org/officeDocument/2006/relationships" id="259" r:id="Rcb191901f90e4af6"/>
    <p:sldId xmlns:r="http://schemas.openxmlformats.org/officeDocument/2006/relationships" id="260" r:id="R055cf1baa201436c"/>
    <p:sldId xmlns:r="http://schemas.openxmlformats.org/officeDocument/2006/relationships" id="261" r:id="R75c85197e24f44f1"/>
    <p:sldId xmlns:r="http://schemas.openxmlformats.org/officeDocument/2006/relationships" id="262" r:id="R7a838678517a481c"/>
    <p:sldId xmlns:r="http://schemas.openxmlformats.org/officeDocument/2006/relationships" id="263" r:id="Rfa1517adf4af4c33"/>
    <p:sldId xmlns:r="http://schemas.openxmlformats.org/officeDocument/2006/relationships" id="264" r:id="R2b18b853baf84fe4"/>
    <p:sldId xmlns:r="http://schemas.openxmlformats.org/officeDocument/2006/relationships" id="265" r:id="Rb5097777fb6e49ad"/>
    <p:sldId xmlns:r="http://schemas.openxmlformats.org/officeDocument/2006/relationships" id="266" r:id="R22f9885371e14a47"/>
    <p:sldId xmlns:r="http://schemas.openxmlformats.org/officeDocument/2006/relationships" id="267" r:id="R5e4d2800e3ea4f1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3ca022ccfc8408f" /><Relationship Type="http://schemas.openxmlformats.org/officeDocument/2006/relationships/slideMaster" Target="/ppt/slideMasters/slideMaster1.xml" Id="Rfebd4154586745c7" /><Relationship Type="http://schemas.openxmlformats.org/officeDocument/2006/relationships/notesMaster" Target="/ppt/notesMasters/notesMaster1.xml" Id="Rfca02c5586904f09" /><Relationship Type="http://schemas.openxmlformats.org/officeDocument/2006/relationships/presProps" Target="/ppt/presProps.xml" Id="Rb1b8f53dfbaf443d" /><Relationship Type="http://schemas.openxmlformats.org/officeDocument/2006/relationships/viewProps" Target="/ppt/viewProps.xml" Id="Rfd448bc8f3764cb4" /><Relationship Type="http://schemas.openxmlformats.org/officeDocument/2006/relationships/tableStyles" Target="/ppt/tableStyles.xml" Id="R46ad28735fde434c" /><Relationship Type="http://schemas.openxmlformats.org/officeDocument/2006/relationships/slide" Target="/ppt/slides/slide1.xml" Id="Re38d691d46bd4310" /><Relationship Type="http://schemas.openxmlformats.org/officeDocument/2006/relationships/slide" Target="/ppt/slides/slide2.xml" Id="R883080476ce44601" /><Relationship Type="http://schemas.openxmlformats.org/officeDocument/2006/relationships/slide" Target="/ppt/slides/slide3.xml" Id="R326d6ca9f36f427e" /><Relationship Type="http://schemas.openxmlformats.org/officeDocument/2006/relationships/slide" Target="/ppt/slides/slide4.xml" Id="Rcb191901f90e4af6" /><Relationship Type="http://schemas.openxmlformats.org/officeDocument/2006/relationships/slide" Target="/ppt/slides/slide5.xml" Id="R055cf1baa201436c" /><Relationship Type="http://schemas.openxmlformats.org/officeDocument/2006/relationships/slide" Target="/ppt/slides/slide6.xml" Id="R75c85197e24f44f1" /><Relationship Type="http://schemas.openxmlformats.org/officeDocument/2006/relationships/slide" Target="/ppt/slides/slide7.xml" Id="R7a838678517a481c" /><Relationship Type="http://schemas.openxmlformats.org/officeDocument/2006/relationships/slide" Target="/ppt/slides/slide8.xml" Id="Rfa1517adf4af4c33" /><Relationship Type="http://schemas.openxmlformats.org/officeDocument/2006/relationships/slide" Target="/ppt/slides/slide9.xml" Id="R2b18b853baf84fe4" /><Relationship Type="http://schemas.openxmlformats.org/officeDocument/2006/relationships/slide" Target="/ppt/slides/slide10.xml" Id="Rb5097777fb6e49ad" /><Relationship Type="http://schemas.openxmlformats.org/officeDocument/2006/relationships/slide" Target="/ppt/slides/slide11.xml" Id="R22f9885371e14a47" /><Relationship Type="http://schemas.openxmlformats.org/officeDocument/2006/relationships/slide" Target="/ppt/slides/slide12.xml" Id="R5e4d2800e3ea4f1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37ebf7f98b849a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d1f6f563fb24bf6" /><Relationship Type="http://schemas.openxmlformats.org/officeDocument/2006/relationships/notesMaster" Target="/ppt/notesMasters/notesMaster1.xml" Id="R11cc17d8314b43d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233e0746fd247d5" /><Relationship Type="http://schemas.openxmlformats.org/officeDocument/2006/relationships/notesMaster" Target="/ppt/notesMasters/notesMaster1.xml" Id="R30656f5cf3fc4ff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ff94aea542a49d9" /><Relationship Type="http://schemas.openxmlformats.org/officeDocument/2006/relationships/notesMaster" Target="/ppt/notesMasters/notesMaster1.xml" Id="R1da47cd67412497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a356bc49f304972" /><Relationship Type="http://schemas.openxmlformats.org/officeDocument/2006/relationships/notesMaster" Target="/ppt/notesMasters/notesMaster1.xml" Id="R450a9f8a299945a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bb76abd7ca44aab" /><Relationship Type="http://schemas.openxmlformats.org/officeDocument/2006/relationships/notesMaster" Target="/ppt/notesMasters/notesMaster1.xml" Id="Rd1927fb5bcba4cd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571aad01bbf4613" /><Relationship Type="http://schemas.openxmlformats.org/officeDocument/2006/relationships/notesMaster" Target="/ppt/notesMasters/notesMaster1.xml" Id="R6ca7c34186b3408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275361e1b4843ac" /><Relationship Type="http://schemas.openxmlformats.org/officeDocument/2006/relationships/notesMaster" Target="/ppt/notesMasters/notesMaster1.xml" Id="Rc8119b261b5b4ee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b1908c750cc41be" /><Relationship Type="http://schemas.openxmlformats.org/officeDocument/2006/relationships/notesMaster" Target="/ppt/notesMasters/notesMaster1.xml" Id="Re92ec05cdbc74b2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81802a142752490b" /><Relationship Type="http://schemas.openxmlformats.org/officeDocument/2006/relationships/notesMaster" Target="/ppt/notesMasters/notesMaster1.xml" Id="Rfc9efea766eb4c46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9002abc290b4245" /><Relationship Type="http://schemas.openxmlformats.org/officeDocument/2006/relationships/notesMaster" Target="/ppt/notesMasters/notesMaster1.xml" Id="Rd30797e9342047e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d87d27bfc0748ba" /><Relationship Type="http://schemas.openxmlformats.org/officeDocument/2006/relationships/notesMaster" Target="/ppt/notesMasters/notesMaster1.xml" Id="Rf0df7d351f4b4237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04689fddb8c4efe" /><Relationship Type="http://schemas.openxmlformats.org/officeDocument/2006/relationships/notesMaster" Target="/ppt/notesMasters/notesMaster1.xml" Id="R08bbd19c2be140b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204143e12c481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b27b05e7a4c444d" /><Relationship Type="http://schemas.openxmlformats.org/officeDocument/2006/relationships/slideLayout" Target="/ppt/slideLayouts/slideLayout1.xml" Id="R357a603cc28748c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57a603cc28748c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1310649f5b4e30" /><Relationship Type="http://schemas.openxmlformats.org/officeDocument/2006/relationships/image" Target="/ppt/media/image.png" Id="R3c4eecbfdbdb4b0c" /><Relationship Type="http://schemas.openxmlformats.org/officeDocument/2006/relationships/notesSlide" Target="/ppt/notesSlides/notesSlide1.xml" Id="R5344cf4acf4a459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d65999aad84cb9" /><Relationship Type="http://schemas.openxmlformats.org/officeDocument/2006/relationships/notesSlide" Target="/ppt/notesSlides/notesSlide2.xml" Id="Redf993b4ab8a489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297db4a3c314746" /><Relationship Type="http://schemas.openxmlformats.org/officeDocument/2006/relationships/image" Target="/ppt/media/image2.png" Id="R8914d3c73a7f4d2b" /><Relationship Type="http://schemas.openxmlformats.org/officeDocument/2006/relationships/image" Target="/ppt/media/image3.png" Id="R2fc50feb9b234ad7" /><Relationship Type="http://schemas.openxmlformats.org/officeDocument/2006/relationships/notesSlide" Target="/ppt/notesSlides/notesSlide3.xml" Id="R30eee14ae1d340f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97494653a2b4117" /><Relationship Type="http://schemas.openxmlformats.org/officeDocument/2006/relationships/image" Target="/ppt/media/image4.png" Id="R53317bcc849d487b" /><Relationship Type="http://schemas.openxmlformats.org/officeDocument/2006/relationships/notesSlide" Target="/ppt/notesSlides/notesSlide4.xml" Id="R28647c5b345840d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4fc87150b14964" /><Relationship Type="http://schemas.openxmlformats.org/officeDocument/2006/relationships/notesSlide" Target="/ppt/notesSlides/notesSlide5.xml" Id="R79639900b82b4dc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eef79738744b8e" /><Relationship Type="http://schemas.openxmlformats.org/officeDocument/2006/relationships/notesSlide" Target="/ppt/notesSlides/notesSlide6.xml" Id="R5529694e77164c7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2f7bcbce7848b7" /><Relationship Type="http://schemas.openxmlformats.org/officeDocument/2006/relationships/notesSlide" Target="/ppt/notesSlides/notesSlide7.xml" Id="Rd65d7f379e01483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968492006b47cf" /><Relationship Type="http://schemas.openxmlformats.org/officeDocument/2006/relationships/image" Target="/ppt/media/image5.png" Id="R94cdebd9bbd14696" /><Relationship Type="http://schemas.openxmlformats.org/officeDocument/2006/relationships/notesSlide" Target="/ppt/notesSlides/notesSlide8.xml" Id="R24ea028ca90d4c4e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409654d8414d09" /><Relationship Type="http://schemas.openxmlformats.org/officeDocument/2006/relationships/notesSlide" Target="/ppt/notesSlides/notesSlide9.xml" Id="R1d8ba23f1a8848b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36896933924384" /><Relationship Type="http://schemas.openxmlformats.org/officeDocument/2006/relationships/notesSlide" Target="/ppt/notesSlides/notesSlide10.xml" Id="R85acfe970be84616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68f4e06c884df8" /><Relationship Type="http://schemas.openxmlformats.org/officeDocument/2006/relationships/notesSlide" Target="/ppt/notesSlides/notesSlide11.xml" Id="Re5fe8e9755524a5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991ec35ac9c4f02" /><Relationship Type="http://schemas.openxmlformats.org/officeDocument/2006/relationships/notesSlide" Target="/ppt/notesSlides/notesSlide12.xml" Id="R24addd4b55f7410b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4249804-C801-41C1-9DE4-002A23362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6E62F8-7392-4DA6-BE61-F4F988B90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AD0421D-1D91-4AE4-8200-3A73B5ECE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9B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20DD6E-AF9D-4E01-AA39-D57F1D36F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C642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8C642D"/>
                </a:solidFill>
                <a:latin typeface="Aptos"/>
                <a:ea typeface="Aptos"/>
                <a:cs typeface="Aptos"/>
              </a:rPr>
              <a:t>PROJECT SHOWCASE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55057C-7515-40DE-AB43-94438AB81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6858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2302D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22302D"/>
                </a:solidFill>
                <a:latin typeface="Aptos Display"/>
                <a:ea typeface="Aptos Display"/>
                <a:cs typeface="Aptos Display"/>
              </a:rPr>
              <a:t>五行人格卡：90 秒生成可分享人格卡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C1B4E7-4639-4823-870E-1F985435E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62100"/>
            <a:ext cx="6191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36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36F"/>
                </a:solidFill>
                <a:latin typeface="Aptos"/>
                <a:ea typeface="Aptos"/>
                <a:cs typeface="Aptos"/>
              </a:rPr>
              <a:t>一个从测算、结果、短链传播到后台数据观察的完整作品。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03F095-463E-4B94-8448-1D3CD2210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62200"/>
            <a:ext cx="1714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2302D">
                <a:alpha val="12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82495B3-DDF3-4961-87E1-AFFC79927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14600"/>
            <a:ext cx="1371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F6F5E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2F6F5E"/>
                </a:solidFill>
                <a:latin typeface="Aptos Display"/>
                <a:ea typeface="Aptos Display"/>
                <a:cs typeface="Aptos Display"/>
              </a:rPr>
              <a:t>90 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52C23CA-E627-47BC-B053-7E2731B67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952750"/>
            <a:ext cx="1371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36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36F"/>
                </a:solidFill>
                <a:latin typeface="Aptos"/>
                <a:ea typeface="Aptos"/>
                <a:cs typeface="Aptos"/>
              </a:rPr>
              <a:t>出生年月 + 5 道题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B7114C-64A2-48FB-B67B-5F599B4403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362200"/>
            <a:ext cx="1714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2302D">
                <a:alpha val="12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057569-3E5E-4F38-9B50-4D542A419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514600"/>
            <a:ext cx="1371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D79B43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D79B43"/>
                </a:solidFill>
                <a:latin typeface="Aptos Display"/>
                <a:ea typeface="Aptos Display"/>
                <a:cs typeface="Aptos Display"/>
              </a:rPr>
              <a:t>闭环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30FA256-A312-4C2C-BC9B-F84FD21A3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952750"/>
            <a:ext cx="1371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36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36F"/>
                </a:solidFill>
                <a:latin typeface="Aptos"/>
                <a:ea typeface="Aptos"/>
                <a:cs typeface="Aptos"/>
              </a:rPr>
              <a:t>结果可分享、可回流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26A49B-3C46-4D06-9350-E6EE39FDE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362200"/>
            <a:ext cx="1714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2302D">
                <a:alpha val="1200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56DB100-A079-4010-AAF6-69F517A07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514600"/>
            <a:ext cx="1371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5D7890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5D7890"/>
                </a:solidFill>
                <a:latin typeface="Aptos Display"/>
                <a:ea typeface="Aptos Display"/>
                <a:cs typeface="Aptos Display"/>
              </a:rPr>
              <a:t>中台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A73A13-01E7-4D89-BF18-02A876ED5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952750"/>
            <a:ext cx="1371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36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36F"/>
                </a:solidFill>
                <a:latin typeface="Aptos"/>
                <a:ea typeface="Aptos"/>
                <a:cs typeface="Aptos"/>
              </a:rPr>
              <a:t>PV / UV / 漏斗 / 运行态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4C04FC-ACDF-4131-9A1F-960C71374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676650"/>
            <a:ext cx="55245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ED"/>
          </a:solidFill>
          <a:ln xmlns:a="http://schemas.openxmlformats.org/drawingml/2006/main" w="9525">
            <a:solidFill>
              <a:srgbClr val="22302D">
                <a:alpha val="1200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53E633-B8EC-4229-A48A-8B982C110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10000"/>
            <a:ext cx="5257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2302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2302D"/>
                </a:solidFill>
                <a:latin typeface="Aptos"/>
                <a:ea typeface="Aptos"/>
                <a:cs typeface="Aptos"/>
              </a:rPr>
              <a:t>主张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724BC60-34B1-4FE3-AF13-CBD363207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114800"/>
            <a:ext cx="52578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36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36F"/>
                </a:solidFill>
                <a:latin typeface="Aptos"/>
                <a:ea typeface="Aptos"/>
                <a:cs typeface="Aptos"/>
              </a:rPr>
              <a:t>它不是一个静态页面 Demo，而是用短链和数据中台证明传播闭环的轻量产品系统。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91118C-5615-4338-9DD0-8A90695A6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762000"/>
            <a:ext cx="3257550" cy="544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2302D">
                <a:alpha val="12000"/>
              </a:srgbClr>
            </a:solidFill>
            <a:prstDash val="solid"/>
          </a:ln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4eecbfdbdb4b0c"/>
          <a:srcRect xmlns:a="http://schemas.openxmlformats.org/drawingml/2006/main" l="0" t="39561" r="0" b="3956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0" y="819150"/>
            <a:ext cx="3143250" cy="5334000"/>
          </a:xfrm>
          <a:prstGeom xmlns:a="http://schemas.openxmlformats.org/drawingml/2006/main" prst="rect">
            <a:avLst/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17EE8D-AE77-4DAC-B6FE-1C34C07D6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829300"/>
            <a:ext cx="3238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22302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2302D"/>
                </a:solidFill>
                <a:latin typeface="Aptos"/>
                <a:ea typeface="Aptos"/>
                <a:cs typeface="Aptos"/>
              </a:rPr>
              <a:t>产品体验 + 工程证据 + 可继续演进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6D115E-E78C-477C-A208-4F91E9F6C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02D">
              <a:alpha val="2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6FBE4AA-81A8-4C54-8186-F2FF86B1B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36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36F"/>
                </a:solidFill>
                <a:latin typeface="Aptos"/>
                <a:ea typeface="Aptos"/>
                <a:cs typeface="Aptos"/>
              </a:rPr>
              <a:t>五行人格卡项目展示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1D71EC2-7E17-4B47-BBAE-6B7B08AA6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9605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F6F5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6F5E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87690188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FCF97BE-7D32-4D72-8EE1-051FBAA1A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14E530-EA1A-48FC-9E03-731CB2C37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12521BE-40DC-4893-9D3F-A2FA294E1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9B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0A4F9E-A814-4ED5-BF6B-88EF7EBB6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C642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8C642D"/>
                </a:solidFill>
                <a:latin typeface="Aptos"/>
                <a:ea typeface="Aptos"/>
                <a:cs typeface="Aptos"/>
              </a:rPr>
              <a:t>PRODUCT LOOP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5BC20C-0C5E-4748-967A-BF35C5ABD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6858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2302D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22302D"/>
                </a:solidFill>
                <a:latin typeface="Aptos Display"/>
                <a:ea typeface="Aptos Display"/>
                <a:cs typeface="Aptos Display"/>
              </a:rPr>
              <a:t>传播闭环是项目的第一性证明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20C3CB-553C-42EE-B116-ABBD95CAD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62100"/>
            <a:ext cx="6191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36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36F"/>
                </a:solidFill>
                <a:latin typeface="Aptos"/>
                <a:ea typeface="Aptos"/>
                <a:cs typeface="Aptos"/>
              </a:rPr>
              <a:t>用户侧完成测算和分享，运营侧通过数据中台看到回流。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8192A9-F6BF-4BC1-BC8D-38241D3DF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1600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2302D">
                <a:alpha val="12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B6AB895-A11B-444B-B570-4EE9CA30A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05100"/>
            <a:ext cx="1333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2302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2302D"/>
                </a:solidFill>
                <a:latin typeface="Aptos"/>
                <a:ea typeface="Aptos"/>
                <a:cs typeface="Aptos"/>
              </a:rPr>
              <a:t>进入首页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A303CF-CF59-47F4-92AD-9877E2542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09900"/>
            <a:ext cx="1333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36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36F"/>
                </a:solidFill>
                <a:latin typeface="Aptos"/>
                <a:ea typeface="Aptos"/>
                <a:cs typeface="Aptos"/>
              </a:rPr>
              <a:t>明确 90 秒测算承诺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0FEB1A-26F5-4D0E-A999-EDA8081E7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3143250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61B0FDC-1A4A-4A8C-92B5-6E3B11812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3067050"/>
            <a:ext cx="285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8A8262-C455-42FD-8102-3DB542FE9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571750"/>
            <a:ext cx="1600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2302D">
                <a:alpha val="12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CDA196-85E5-4C4E-A030-BB8FAEAAE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705100"/>
            <a:ext cx="1333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2302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2302D"/>
                </a:solidFill>
                <a:latin typeface="Aptos"/>
                <a:ea typeface="Aptos"/>
                <a:cs typeface="Aptos"/>
              </a:rPr>
              <a:t>完成答题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F788769-B022-4A8D-BD16-B3366A1C6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009900"/>
            <a:ext cx="1333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36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36F"/>
                </a:solidFill>
                <a:latin typeface="Aptos"/>
                <a:ea typeface="Aptos"/>
                <a:cs typeface="Aptos"/>
              </a:rPr>
              <a:t>出生信息 + 价值取向题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8EC46A-14CF-421D-AF13-CA1362D5D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143250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E6DC296-5D88-4CC1-A89A-D54665A1B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067050"/>
            <a:ext cx="285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50B6DE3-1797-4A1B-9A6A-911822049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2571750"/>
            <a:ext cx="1600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C"/>
          </a:solidFill>
          <a:ln xmlns:a="http://schemas.openxmlformats.org/drawingml/2006/main" w="9525">
            <a:solidFill>
              <a:srgbClr val="22302D">
                <a:alpha val="1200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D22680-1520-4772-A586-B7B9BD81E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705100"/>
            <a:ext cx="1333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2302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2302D"/>
                </a:solidFill>
                <a:latin typeface="Aptos"/>
                <a:ea typeface="Aptos"/>
                <a:cs typeface="Aptos"/>
              </a:rPr>
              <a:t>生成卡片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EFE4596-0773-449C-8104-2053EE551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3009900"/>
            <a:ext cx="1333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36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36F"/>
                </a:solidFill>
                <a:latin typeface="Aptos"/>
                <a:ea typeface="Aptos"/>
                <a:cs typeface="Aptos"/>
              </a:rPr>
              <a:t>身份名、关键词、五行比例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3C4DA83-DCEA-44C3-93C2-98D2D9F4A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143250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9B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B039F2-5058-4703-B9BA-198236AEA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067050"/>
            <a:ext cx="285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9B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75EA406-EB4F-4594-9AC0-CC7CB17EA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71750"/>
            <a:ext cx="1600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2302D">
                <a:alpha val="1200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741D51-96C0-4752-AFC3-C324AF38C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05100"/>
            <a:ext cx="1333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2302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2302D"/>
                </a:solidFill>
                <a:latin typeface="Aptos"/>
                <a:ea typeface="Aptos"/>
                <a:cs typeface="Aptos"/>
              </a:rPr>
              <a:t>短链分享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E48119D-D15C-4760-AACD-AAFFAE8D7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009900"/>
            <a:ext cx="1333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36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36F"/>
                </a:solidFill>
                <a:latin typeface="Aptos"/>
                <a:ea typeface="Aptos"/>
                <a:cs typeface="Aptos"/>
              </a:rPr>
              <a:t>复制链接 / 保存卡片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B391004-DAD7-42A0-A525-948F8C513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143250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9B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6DE8BD0-33AC-4F10-900F-5D2B3F333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067050"/>
            <a:ext cx="285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9B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EFC1A3A-462A-45F0-B1AC-F39D76C06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571750"/>
            <a:ext cx="1600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2302D">
                <a:alpha val="1200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9927A69-D467-4B2D-94A5-5743C2C39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2705100"/>
            <a:ext cx="1333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2302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2302D"/>
                </a:solidFill>
                <a:latin typeface="Aptos"/>
                <a:ea typeface="Aptos"/>
                <a:cs typeface="Aptos"/>
              </a:rPr>
              <a:t>朋友回流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5185A42-0BAC-41E1-AF7C-1529D6383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77350" y="3009900"/>
            <a:ext cx="133350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36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36F"/>
                </a:solidFill>
                <a:latin typeface="Aptos"/>
                <a:ea typeface="Aptos"/>
                <a:cs typeface="Aptos"/>
              </a:rPr>
              <a:t>访问短链并重新测算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7CC74C1-4BF4-4613-9338-7B47226D4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09750" y="4476750"/>
            <a:ext cx="3429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ED"/>
          </a:solidFill>
          <a:ln xmlns:a="http://schemas.openxmlformats.org/drawingml/2006/main" w="9525">
            <a:solidFill>
              <a:srgbClr val="22302D">
                <a:alpha val="1200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DEADC56-A7AA-488D-8A6F-911A86967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610100"/>
            <a:ext cx="3162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2302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2302D"/>
                </a:solidFill>
                <a:latin typeface="Aptos"/>
                <a:ea typeface="Aptos"/>
                <a:cs typeface="Aptos"/>
              </a:rPr>
              <a:t>前端证据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07D57BC-485B-4120-BB8F-56EE623F1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914900"/>
            <a:ext cx="3162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36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36F"/>
                </a:solidFill>
                <a:latin typeface="Aptos"/>
                <a:ea typeface="Aptos"/>
                <a:cs typeface="Aptos"/>
              </a:rPr>
              <a:t>GuidePage / TestPage / ResultPage 形成完整体验路径。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0CE43A0-C3C0-48A7-A0FE-5C4F55EF2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476750"/>
            <a:ext cx="34290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C"/>
          </a:solidFill>
          <a:ln xmlns:a="http://schemas.openxmlformats.org/drawingml/2006/main" w="9525">
            <a:solidFill>
              <a:srgbClr val="22302D">
                <a:alpha val="1200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24D41E8-26FA-488A-8055-EDB43A8BB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610100"/>
            <a:ext cx="3162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2302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2302D"/>
                </a:solidFill>
                <a:latin typeface="Aptos"/>
                <a:ea typeface="Aptos"/>
                <a:cs typeface="Aptos"/>
              </a:rPr>
              <a:t>后端证据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812AB38-7218-43C5-848B-BE2058825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4914900"/>
            <a:ext cx="31623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36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36F"/>
                </a:solidFill>
                <a:latin typeface="Aptos"/>
                <a:ea typeface="Aptos"/>
                <a:cs typeface="Aptos"/>
              </a:rPr>
              <a:t>ResultService 串起结果持久化、短链创建和事件记录。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FE6DCAE-CDCB-4353-BB50-DEBF37F83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02D">
              <a:alpha val="2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9F946C4-DE84-4B13-BC61-0A73F259A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36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36F"/>
                </a:solidFill>
                <a:latin typeface="Aptos"/>
                <a:ea typeface="Aptos"/>
                <a:cs typeface="Aptos"/>
              </a:rPr>
              <a:t>五行人格卡项目展示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7CAF6A0-3143-4ED8-8EF7-9022730E6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9605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F6F5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6F5E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13222259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28CC90D-43A6-43A0-A6BB-0599309E0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10A10D-EAF5-40B5-8A7C-3248B01BA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1267A0-DA49-4048-8A66-69E355871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9B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E20278-67CC-4162-9092-1FA5A5608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C642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8C642D"/>
                </a:solidFill>
                <a:latin typeface="Aptos"/>
                <a:ea typeface="Aptos"/>
                <a:cs typeface="Aptos"/>
              </a:rPr>
              <a:t>MOBILE UX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C43398-0E1D-4D85-91E9-32459F209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6858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2302D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22302D"/>
                </a:solidFill>
                <a:latin typeface="Aptos Display"/>
                <a:ea typeface="Aptos Display"/>
                <a:cs typeface="Aptos Display"/>
              </a:rPr>
              <a:t>卡片式问答降低了移动端理解成本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A8F5B8-C287-4331-8736-44236DA57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62100"/>
            <a:ext cx="6191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36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36F"/>
                </a:solidFill>
                <a:latin typeface="Aptos"/>
                <a:ea typeface="Aptos"/>
                <a:cs typeface="Aptos"/>
              </a:rPr>
              <a:t>v2.6 把长表单改成分步题卡，用户知道自己在哪一步、下一步做什么。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4C8255-9861-4BF3-8428-84F8C8840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52600"/>
            <a:ext cx="2590800" cy="401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2302D">
                <a:alpha val="12000"/>
              </a:srgbClr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14d3c73a7f4d2b"/>
          <a:srcRect xmlns:a="http://schemas.openxmlformats.org/drawingml/2006/main" l="0" t="32400" r="0" b="324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62000" y="1809750"/>
            <a:ext cx="2476500" cy="39052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695EAC-E5CA-43F6-B7CE-BA51E1F5B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57600" y="1752600"/>
            <a:ext cx="2590800" cy="401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2302D">
                <a:alpha val="12000"/>
              </a:srgbClr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c50feb9b234ad7"/>
          <a:srcRect xmlns:a="http://schemas.openxmlformats.org/drawingml/2006/main" l="0" t="28163" r="0" b="2816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714750" y="1809750"/>
            <a:ext cx="2476500" cy="39052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EBA753-2D94-49C3-81D2-8E630381D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000250"/>
            <a:ext cx="3619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ED"/>
          </a:solidFill>
          <a:ln xmlns:a="http://schemas.openxmlformats.org/drawingml/2006/main" w="9525">
            <a:solidFill>
              <a:srgbClr val="22302D">
                <a:alpha val="1200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9B53B6-D6C7-44A9-BBB9-49FCDD384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133600"/>
            <a:ext cx="3352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2302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2302D"/>
                </a:solidFill>
                <a:latin typeface="Aptos"/>
                <a:ea typeface="Aptos"/>
                <a:cs typeface="Aptos"/>
              </a:rPr>
              <a:t>交互优化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6272BA9-DA7F-4D78-942E-6EA18B03D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438400"/>
            <a:ext cx="3352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36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36F"/>
                </a:solidFill>
                <a:latin typeface="Aptos"/>
                <a:ea typeface="Aptos"/>
                <a:cs typeface="Aptos"/>
              </a:rPr>
              <a:t>年份滑杆、快捷加减、横向选择和底部 action 区减少用户犹豫。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92FD15-9228-4176-AC8F-E2B411B4F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143250"/>
            <a:ext cx="3619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2302D">
                <a:alpha val="1200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8CA533-0C04-4E5F-9724-B6C89BFE9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276600"/>
            <a:ext cx="3352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2302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2302D"/>
                </a:solidFill>
                <a:latin typeface="Aptos"/>
                <a:ea typeface="Aptos"/>
                <a:cs typeface="Aptos"/>
              </a:rPr>
              <a:t>体验边界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28A9C13-2C71-44D6-8515-812D92513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581400"/>
            <a:ext cx="3352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36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36F"/>
                </a:solidFill>
                <a:latin typeface="Aptos"/>
                <a:ea typeface="Aptos"/>
                <a:cs typeface="Aptos"/>
              </a:rPr>
              <a:t>移动端优先保证信息不遮挡、按钮不抢占题目区域。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1064C5B-8BCF-47F7-91AE-9945E6C0D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286250"/>
            <a:ext cx="3619500" cy="895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C"/>
          </a:solidFill>
          <a:ln xmlns:a="http://schemas.openxmlformats.org/drawingml/2006/main" w="9525">
            <a:solidFill>
              <a:srgbClr val="22302D">
                <a:alpha val="1200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3F2F2C-455A-4CB6-AB80-CDD2AD1D3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419600"/>
            <a:ext cx="3352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2302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2302D"/>
                </a:solidFill>
                <a:latin typeface="Aptos"/>
                <a:ea typeface="Aptos"/>
                <a:cs typeface="Aptos"/>
              </a:rPr>
              <a:t>后续验证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0DC01A5-251D-4CE2-B56D-B379C987B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724400"/>
            <a:ext cx="33528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36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36F"/>
                </a:solidFill>
                <a:latin typeface="Aptos"/>
                <a:ea typeface="Aptos"/>
                <a:cs typeface="Aptos"/>
              </a:rPr>
              <a:t>继续用真实手机截图和移动端 E2E 覆盖出生页、题卡页、结果页。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578EE6-3B8B-4550-A41B-FD2E9E430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02D">
              <a:alpha val="2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470427-35E6-4772-A282-000E04E03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36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36F"/>
                </a:solidFill>
                <a:latin typeface="Aptos"/>
                <a:ea typeface="Aptos"/>
                <a:cs typeface="Aptos"/>
              </a:rPr>
              <a:t>五行人格卡项目展示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0382B7B-7065-4479-8B55-0BD06719C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9605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F6F5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6F5E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81648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F005928-3341-443A-91F4-849EE47F5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8DD8C1-BD41-48CE-A298-D739A0E931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5D81C5-5D6F-4D8A-A9CF-1080B2199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9B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2CB91B-3381-4A86-A6EB-73C1924AE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C642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8C642D"/>
                </a:solidFill>
                <a:latin typeface="Aptos"/>
                <a:ea typeface="Aptos"/>
                <a:cs typeface="Aptos"/>
              </a:rPr>
              <a:t>RESULT PAGE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4A71B0-287D-4F89-9CA3-54022C2B4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6858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2302D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22302D"/>
                </a:solidFill>
                <a:latin typeface="Aptos Display"/>
                <a:ea typeface="Aptos Display"/>
                <a:cs typeface="Aptos Display"/>
              </a:rPr>
              <a:t>结果页承担共鸣、解释和分享三件事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BD14DD6-DCE8-4630-A4C1-F4DD413C9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62100"/>
            <a:ext cx="6191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36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36F"/>
                </a:solidFill>
                <a:latin typeface="Aptos"/>
                <a:ea typeface="Aptos"/>
                <a:cs typeface="Aptos"/>
              </a:rPr>
              <a:t>用户先获得身份感，再看到五行解释，最后被引导分享。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44C8007-33A2-4967-BC3F-5E8C652FF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04950"/>
            <a:ext cx="2971800" cy="459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2302D">
                <a:alpha val="12000"/>
              </a:srgbClr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317bcc849d487b"/>
          <a:srcRect xmlns:a="http://schemas.openxmlformats.org/drawingml/2006/main" l="0" t="41856" r="0" b="418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57250" y="1562100"/>
            <a:ext cx="2857500" cy="44767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74E7A60-06E7-429E-A2FA-C035A92E8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809750"/>
            <a:ext cx="4953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ED"/>
          </a:solidFill>
          <a:ln xmlns:a="http://schemas.openxmlformats.org/drawingml/2006/main" w="9525">
            <a:solidFill>
              <a:srgbClr val="22302D">
                <a:alpha val="1200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1BBD46-FF61-4161-BA7E-CBECBBCCF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1943100"/>
            <a:ext cx="4686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2302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2302D"/>
                </a:solidFill>
                <a:latin typeface="Aptos"/>
                <a:ea typeface="Aptos"/>
                <a:cs typeface="Aptos"/>
              </a:rPr>
              <a:t>1. 身份名与关键词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605A0DE-24EF-4162-9B1D-42AAB146B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247900"/>
            <a:ext cx="4686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36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36F"/>
                </a:solidFill>
                <a:latin typeface="Aptos"/>
                <a:ea typeface="Aptos"/>
                <a:cs typeface="Aptos"/>
              </a:rPr>
              <a:t>先给用户一个可以记住、可以转述的身份标签。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77C4C8-554A-48E1-8A43-6D6EB3A30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895600"/>
            <a:ext cx="4953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2302D">
                <a:alpha val="12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8293EB-1E4D-4F62-AF8F-8837FC694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028950"/>
            <a:ext cx="4686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2302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2302D"/>
                </a:solidFill>
                <a:latin typeface="Aptos"/>
                <a:ea typeface="Aptos"/>
                <a:cs typeface="Aptos"/>
              </a:rPr>
              <a:t>2. 五行解释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2D05C9-E1C1-4569-8871-0B6A05123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333750"/>
            <a:ext cx="4686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36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36F"/>
                </a:solidFill>
                <a:latin typeface="Aptos"/>
                <a:ea typeface="Aptos"/>
                <a:cs typeface="Aptos"/>
              </a:rPr>
              <a:t>用主元素、次元素、相互作用解释为什么是这个命格。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64D9D34-F458-476A-9DD9-47CFDBF46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981450"/>
            <a:ext cx="49530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C"/>
          </a:solidFill>
          <a:ln xmlns:a="http://schemas.openxmlformats.org/drawingml/2006/main" w="9525">
            <a:solidFill>
              <a:srgbClr val="22302D">
                <a:alpha val="1200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8527918-E8C3-4160-BA68-619B7CB10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114800"/>
            <a:ext cx="4686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2302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2302D"/>
                </a:solidFill>
                <a:latin typeface="Aptos"/>
                <a:ea typeface="Aptos"/>
                <a:cs typeface="Aptos"/>
              </a:rPr>
              <a:t>3. 分享与回流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7EEBC20-4391-4F25-9AD4-D3AAC8405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419600"/>
            <a:ext cx="4686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36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36F"/>
                </a:solidFill>
                <a:latin typeface="Aptos"/>
                <a:ea typeface="Aptos"/>
                <a:cs typeface="Aptos"/>
              </a:rPr>
              <a:t>短链和保存图让结果从个人体验变成传播入口。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FC1BDDA-4079-4CEB-8122-3906556DE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02D">
              <a:alpha val="2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A6259AB-BFAA-42CE-84B5-81551D078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36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36F"/>
                </a:solidFill>
                <a:latin typeface="Aptos"/>
                <a:ea typeface="Aptos"/>
                <a:cs typeface="Aptos"/>
              </a:rPr>
              <a:t>五行人格卡项目展示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3501B8-5E22-4F9D-A41F-ACB459C5D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9605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F6F5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6F5E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2008624144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37961AC-FBE0-4B61-B578-9615465C1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C91391-B6CF-4309-8FC6-C98CA7095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2B809ED-8FC1-46CA-BB57-E339B071F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9B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A460E36-7632-41FC-9904-5D60CD2A4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C642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8C642D"/>
                </a:solidFill>
                <a:latin typeface="Aptos"/>
                <a:ea typeface="Aptos"/>
                <a:cs typeface="Aptos"/>
              </a:rPr>
              <a:t>BACKEND FLOW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707C57-A112-4F29-AB91-B192B34EE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6858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2302D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22302D"/>
                </a:solidFill>
                <a:latin typeface="Aptos Display"/>
                <a:ea typeface="Aptos Display"/>
                <a:cs typeface="Aptos Display"/>
              </a:rPr>
              <a:t>后端把一次测算变成可持久化结果资产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963A0E-2178-4924-832C-00DCC8ADF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62100"/>
            <a:ext cx="6191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36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36F"/>
                </a:solidFill>
                <a:latin typeface="Aptos"/>
                <a:ea typeface="Aptos"/>
                <a:cs typeface="Aptos"/>
              </a:rPr>
              <a:t>ResultService 是创建结果的核心编排点。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B272D7-D018-4AE5-B6D1-8ACD3A533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62200"/>
            <a:ext cx="1524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2302D">
                <a:alpha val="12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A6DE1F-8FF6-45CD-A9E3-E0D7B5D74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95550"/>
            <a:ext cx="1257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2302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2302D"/>
                </a:solidFill>
                <a:latin typeface="Aptos"/>
                <a:ea typeface="Aptos"/>
                <a:cs typeface="Aptos"/>
              </a:rPr>
              <a:t>Controller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DF2DDC-1828-45D8-B58C-EEC789B48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00350"/>
            <a:ext cx="1257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36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36F"/>
                </a:solidFill>
                <a:latin typeface="Aptos"/>
                <a:ea typeface="Aptos"/>
                <a:cs typeface="Aptos"/>
              </a:rPr>
              <a:t>校验请求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BFB6230-FB6A-4EFA-9DAC-B3D489F40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857500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4FA4D5F-44A0-4721-A766-15F113298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2781300"/>
            <a:ext cx="285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C698A1-8F8F-485B-A87A-3BBADBBDB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362200"/>
            <a:ext cx="1524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C"/>
          </a:solidFill>
          <a:ln xmlns:a="http://schemas.openxmlformats.org/drawingml/2006/main" w="9525">
            <a:solidFill>
              <a:srgbClr val="22302D">
                <a:alpha val="12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9132E8-4477-4A3A-818E-6D927BAB6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495550"/>
            <a:ext cx="1257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2302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2302D"/>
                </a:solidFill>
                <a:latin typeface="Aptos"/>
                <a:ea typeface="Aptos"/>
                <a:cs typeface="Aptos"/>
              </a:rPr>
              <a:t>ResultService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D573C50-0198-42B9-A5E1-30C9B3ACA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800350"/>
            <a:ext cx="1257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36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36F"/>
                </a:solidFill>
                <a:latin typeface="Aptos"/>
                <a:ea typeface="Aptos"/>
                <a:cs typeface="Aptos"/>
              </a:rPr>
              <a:t>计算五行与星官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BA49EB5-6EC9-4E36-A6B7-EB4F98EFD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857500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2456214-4B90-407F-9631-A46FD6BA5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781300"/>
            <a:ext cx="285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A0611FA-F8A0-424F-911A-78A8CAACAF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362200"/>
            <a:ext cx="1524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2302D">
                <a:alpha val="1200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03D1BE-6F6A-463F-B61E-5F21D9909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495550"/>
            <a:ext cx="1257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2302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2302D"/>
                </a:solidFill>
                <a:latin typeface="Aptos"/>
                <a:ea typeface="Aptos"/>
                <a:cs typeface="Aptos"/>
              </a:rPr>
              <a:t>MySQL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3D1AB21-B70C-4DF3-886B-6112D8186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2800350"/>
            <a:ext cx="1257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36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36F"/>
                </a:solidFill>
                <a:latin typeface="Aptos"/>
                <a:ea typeface="Aptos"/>
                <a:cs typeface="Aptos"/>
              </a:rPr>
              <a:t>保存 user_result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EE58AF-DA3A-40E2-B336-3E335F2E2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857500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CC363FE-8F23-4B52-8AE4-75E96CB5D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781300"/>
            <a:ext cx="285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5B0BBA-B96F-4B90-A352-CB3C580E9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362200"/>
            <a:ext cx="1524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2302D">
                <a:alpha val="1200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921FBF-818E-43AA-BF6A-C99BF1EB8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495550"/>
            <a:ext cx="1257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2302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2302D"/>
                </a:solidFill>
                <a:latin typeface="Aptos"/>
                <a:ea typeface="Aptos"/>
                <a:cs typeface="Aptos"/>
              </a:rPr>
              <a:t>ShortLink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9BC951-DD24-47AA-90EE-E9A87FFF0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2800350"/>
            <a:ext cx="1257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36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36F"/>
                </a:solidFill>
                <a:latin typeface="Aptos"/>
                <a:ea typeface="Aptos"/>
                <a:cs typeface="Aptos"/>
              </a:rPr>
              <a:t>生成 short_code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B15AA0F-FC3A-4D36-8EEA-6FF699869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57500"/>
            <a:ext cx="3810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DAD5897-D096-43F6-894C-6C0607587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7300" y="2781300"/>
            <a:ext cx="285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CBDBC0A-EBE8-4DD3-AA5E-2022ABC6A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362200"/>
            <a:ext cx="15240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2302D">
                <a:alpha val="1200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9B7C25A-E2A1-44B6-AD28-988336966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495550"/>
            <a:ext cx="1257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2302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2302D"/>
                </a:solidFill>
                <a:latin typeface="Aptos"/>
                <a:ea typeface="Aptos"/>
                <a:cs typeface="Aptos"/>
              </a:rPr>
              <a:t>VisitEvent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43A024D-364E-48BE-BE3D-502F95F5F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800350"/>
            <a:ext cx="12573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36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36F"/>
                </a:solidFill>
                <a:latin typeface="Aptos"/>
                <a:ea typeface="Aptos"/>
                <a:cs typeface="Aptos"/>
              </a:rPr>
              <a:t>记录关键事件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3217C25-8551-420F-941A-4308FB649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114800"/>
            <a:ext cx="2857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ED"/>
          </a:solidFill>
          <a:ln xmlns:a="http://schemas.openxmlformats.org/drawingml/2006/main" w="9525">
            <a:solidFill>
              <a:srgbClr val="22302D">
                <a:alpha val="1200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5D8C0A7-A805-4E74-BA51-0DF56932E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248150"/>
            <a:ext cx="2590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2302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2302D"/>
                </a:solidFill>
                <a:latin typeface="Aptos"/>
                <a:ea typeface="Aptos"/>
                <a:cs typeface="Aptos"/>
              </a:rPr>
              <a:t>同步证据链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68BF9AE-F1E5-4B5F-946A-B340C842B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552950"/>
            <a:ext cx="2590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36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36F"/>
                </a:solidFill>
                <a:latin typeface="Aptos"/>
                <a:ea typeface="Aptos"/>
                <a:cs typeface="Aptos"/>
              </a:rPr>
              <a:t>结果、短链、创建事件在一次业务动作中形成可追溯记录。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9FB37E9-9D2D-48FE-96DA-2A5D42101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50" y="4114800"/>
            <a:ext cx="2857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2302D">
                <a:alpha val="1200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0406D06-283D-48E0-B1ED-55F4ADF78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248150"/>
            <a:ext cx="2590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2302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2302D"/>
                </a:solidFill>
                <a:latin typeface="Aptos"/>
                <a:ea typeface="Aptos"/>
                <a:cs typeface="Aptos"/>
              </a:rPr>
              <a:t>异步统计链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79F7946-8342-4B4A-95CC-078342FCE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552950"/>
            <a:ext cx="2590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36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36F"/>
                </a:solidFill>
                <a:latin typeface="Aptos"/>
                <a:ea typeface="Aptos"/>
                <a:cs typeface="Aptos"/>
              </a:rPr>
              <a:t>浏览、分享、短链访问进入事件队列，不阻塞主体验。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2047C4A-01E2-4868-A6C5-664E9BCB9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4114800"/>
            <a:ext cx="2857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C"/>
          </a:solidFill>
          <a:ln xmlns:a="http://schemas.openxmlformats.org/drawingml/2006/main" w="9525">
            <a:solidFill>
              <a:srgbClr val="22302D">
                <a:alpha val="1200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0448A32-5DC2-4594-B773-91022E688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248150"/>
            <a:ext cx="2590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2302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2302D"/>
                </a:solidFill>
                <a:latin typeface="Aptos"/>
                <a:ea typeface="Aptos"/>
                <a:cs typeface="Aptos"/>
              </a:rPr>
              <a:t>扩展点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9E0373C-28CA-48B6-8343-376E169D5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4552950"/>
            <a:ext cx="2590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36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36F"/>
                </a:solidFill>
                <a:latin typeface="Aptos"/>
                <a:ea typeface="Aptos"/>
                <a:cs typeface="Aptos"/>
              </a:rPr>
              <a:t>RocketMQ 作为可选投递通道，默认仍保持本地队列。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AF98A2E-FB25-4378-9013-E28C31309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02D">
              <a:alpha val="2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653E9F7-2CFD-4443-92C1-CEE116CBF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36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36F"/>
                </a:solidFill>
                <a:latin typeface="Aptos"/>
                <a:ea typeface="Aptos"/>
                <a:cs typeface="Aptos"/>
              </a:rPr>
              <a:t>五行人格卡项目展示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06CF0FB-0A6D-42D2-B563-5CF363B61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9605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F6F5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6F5E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46894470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13E5C4B-52B9-4E7F-8AEB-480C999BA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58878D-2FB8-4712-BE5B-D86242905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1DC5BF-1E0D-47E2-BCFB-7CD9D97F2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9B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3452452-6B6C-4E27-896C-D1F87285D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C642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8C642D"/>
                </a:solidFill>
                <a:latin typeface="Aptos"/>
                <a:ea typeface="Aptos"/>
                <a:cs typeface="Aptos"/>
              </a:rPr>
              <a:t>ARCHITECTURE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844139-60CD-4461-B98A-CC037F17A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6858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2302D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22302D"/>
                </a:solidFill>
                <a:latin typeface="Aptos Display"/>
                <a:ea typeface="Aptos Display"/>
                <a:cs typeface="Aptos Display"/>
              </a:rPr>
              <a:t>部署形态保持简单，但关键边界清楚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90DCA3-13BB-4083-9169-A98282144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62100"/>
            <a:ext cx="6191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36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36F"/>
                </a:solidFill>
                <a:latin typeface="Aptos"/>
                <a:ea typeface="Aptos"/>
                <a:cs typeface="Aptos"/>
              </a:rPr>
              <a:t>Nginx 负责入口，Spring Boot 承担业务，MySQL/Redis 承担持久化与热路径缓存。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A733EED-E251-4D7B-B975-082C7DF1C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43150"/>
            <a:ext cx="1809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2302D">
                <a:alpha val="12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481405-C285-45EE-A4F4-B26DBADD0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76500"/>
            <a:ext cx="1543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2302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2302D"/>
                </a:solidFill>
                <a:latin typeface="Aptos"/>
                <a:ea typeface="Aptos"/>
                <a:cs typeface="Aptos"/>
              </a:rPr>
              <a:t>Browser / Mobile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E7C80A-3853-4C45-9D38-D65ED1107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781300"/>
            <a:ext cx="15430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36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36F"/>
                </a:solidFill>
                <a:latin typeface="Aptos"/>
                <a:ea typeface="Aptos"/>
                <a:cs typeface="Aptos"/>
              </a:rPr>
              <a:t>首页、测试、结果、后台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166A25-92B6-4DB5-8867-C7BEA66AE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43150"/>
            <a:ext cx="1809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ED"/>
          </a:solidFill>
          <a:ln xmlns:a="http://schemas.openxmlformats.org/drawingml/2006/main" w="9525">
            <a:solidFill>
              <a:srgbClr val="22302D">
                <a:alpha val="12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029873-2FAF-4F0C-A5D9-E4474FBFF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476500"/>
            <a:ext cx="1543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2302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2302D"/>
                </a:solidFill>
                <a:latin typeface="Aptos"/>
                <a:ea typeface="Aptos"/>
                <a:cs typeface="Aptos"/>
              </a:rPr>
              <a:t>Nginx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281668-CF02-4D58-BC62-A84BBBCCD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781300"/>
            <a:ext cx="15430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36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36F"/>
                </a:solidFill>
                <a:latin typeface="Aptos"/>
                <a:ea typeface="Aptos"/>
                <a:cs typeface="Aptos"/>
              </a:rPr>
              <a:t>静态资源、路由、限流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67BA04-156D-482B-9E90-F47661AFB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343150"/>
            <a:ext cx="20002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C"/>
          </a:solidFill>
          <a:ln xmlns:a="http://schemas.openxmlformats.org/drawingml/2006/main" w="9525">
            <a:solidFill>
              <a:srgbClr val="22302D">
                <a:alpha val="1200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E4A0FB0-9E84-4852-8C29-66A80FACE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476500"/>
            <a:ext cx="1733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2302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2302D"/>
                </a:solidFill>
                <a:latin typeface="Aptos"/>
                <a:ea typeface="Aptos"/>
                <a:cs typeface="Aptos"/>
              </a:rPr>
              <a:t>Spring Boot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58131D-A480-4043-8A31-7CA726607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781300"/>
            <a:ext cx="17335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36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36F"/>
                </a:solidFill>
                <a:latin typeface="Aptos"/>
                <a:ea typeface="Aptos"/>
                <a:cs typeface="Aptos"/>
              </a:rPr>
              <a:t>结果、短链、统计 API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1B18EF-9F8A-4401-998A-391ACF68D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676400"/>
            <a:ext cx="1714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2302D">
                <a:alpha val="1200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65E7C1-F1AF-4B69-9CDC-2A5D77CA0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809750"/>
            <a:ext cx="1447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2302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2302D"/>
                </a:solidFill>
                <a:latin typeface="Aptos"/>
                <a:ea typeface="Aptos"/>
                <a:cs typeface="Aptos"/>
              </a:rPr>
              <a:t>Redis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F61642E-0090-4DF5-A2BD-651ACD839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114550"/>
            <a:ext cx="1447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36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36F"/>
                </a:solidFill>
                <a:latin typeface="Aptos"/>
                <a:ea typeface="Aptos"/>
                <a:cs typeface="Aptos"/>
              </a:rPr>
              <a:t>结果缓存、短码映射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F3536E-31A4-45E1-9A38-1F15242A9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86100"/>
            <a:ext cx="17145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2302D">
                <a:alpha val="1200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B15A82A-BC43-4FB3-98A3-F79D996AC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219450"/>
            <a:ext cx="1447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2302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2302D"/>
                </a:solidFill>
                <a:latin typeface="Aptos"/>
                <a:ea typeface="Aptos"/>
                <a:cs typeface="Aptos"/>
              </a:rPr>
              <a:t>MySQL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11DB955-44B7-4718-8118-928E9D242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524250"/>
            <a:ext cx="1447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36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36F"/>
                </a:solidFill>
                <a:latin typeface="Aptos"/>
                <a:ea typeface="Aptos"/>
                <a:cs typeface="Aptos"/>
              </a:rPr>
              <a:t>结果、事件、聚合表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194EB0B-9F54-474D-8C57-9A7368EEC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85750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09214AF-2BA7-47F9-B30B-B075F2155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2781300"/>
            <a:ext cx="285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F62912B-AA2B-4B56-9E43-2931C3584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857500"/>
            <a:ext cx="6667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B00D692-B3EF-4FDB-AFF2-AE0BF3373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781300"/>
            <a:ext cx="285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353FF3-57BF-4A2E-830B-F01599936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476500"/>
            <a:ext cx="704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9B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3AD9280-E30B-42C3-B96D-937E0DB3B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057400"/>
            <a:ext cx="285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9B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C2B67EA-691E-46F8-9C81-649D46491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105150"/>
            <a:ext cx="7048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C7080B7-AF85-4F53-ACA9-D3032BE7F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3448050"/>
            <a:ext cx="285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FC90670-ED0E-4824-BA55-73B5C6221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48200"/>
            <a:ext cx="7810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ED"/>
          </a:solidFill>
          <a:ln xmlns:a="http://schemas.openxmlformats.org/drawingml/2006/main" w="9525">
            <a:solidFill>
              <a:srgbClr val="22302D">
                <a:alpha val="1200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F94E36F-C14E-4573-9505-EACAABE40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4781550"/>
            <a:ext cx="7543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2302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2302D"/>
                </a:solidFill>
                <a:latin typeface="Aptos"/>
                <a:ea typeface="Aptos"/>
                <a:cs typeface="Aptos"/>
              </a:rPr>
              <a:t>设计取舍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9AED7F7-B1B4-4586-A047-7CA3546B3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52600" y="5086350"/>
            <a:ext cx="7543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36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36F"/>
                </a:solidFill>
                <a:latin typeface="Aptos"/>
                <a:ea typeface="Aptos"/>
                <a:cs typeface="Aptos"/>
              </a:rPr>
              <a:t>当前阶段优先让产品闭环和运维闭环可证明；复杂分布式组件只作为可选扩展，不强行引入。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94269FC-AC91-4A6C-B97F-A159C8A1E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02D">
              <a:alpha val="2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78E3F69-653C-4931-9644-9DEFE144C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36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36F"/>
                </a:solidFill>
                <a:latin typeface="Aptos"/>
                <a:ea typeface="Aptos"/>
                <a:cs typeface="Aptos"/>
              </a:rPr>
              <a:t>五行人格卡项目展示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B01A684-D4CC-4C8D-95E6-EFF92FF28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9605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F6F5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6F5E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850495268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288FB9D-BE73-4F55-A874-BA99F6771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5EAFE7-29EE-4413-A6FB-E50CA2FB6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79B4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79B43"/>
                </a:solidFill>
                <a:latin typeface="Aptos"/>
                <a:ea typeface="Aptos"/>
                <a:cs typeface="Aptos"/>
              </a:rPr>
              <a:t>HOT PATH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0CE2FE-206D-4D6A-9A65-FC356D0BE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6858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短链热路径优先保证低延迟 302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5802A89-2EC5-47BC-A75C-6AE4E44FE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62100"/>
            <a:ext cx="6191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9C8C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B9C8C1"/>
                </a:solidFill>
                <a:latin typeface="Aptos"/>
                <a:ea typeface="Aptos"/>
                <a:cs typeface="Aptos"/>
              </a:rPr>
              <a:t>传播入口不应该被统计写入拖慢，所以访问事件异步化。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B56298-7C7C-4D96-B079-D257CDD7A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1714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2302D">
                <a:alpha val="12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01F423B-7DD3-48D6-90A1-8D9FC92F7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43150"/>
            <a:ext cx="1371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D79B43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D79B43"/>
                </a:solidFill>
                <a:latin typeface="Aptos Display"/>
                <a:ea typeface="Aptos Display"/>
                <a:cs typeface="Aptos Display"/>
              </a:rPr>
              <a:t>302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4049B4-6AE7-4E2F-85D2-832BADBE8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81300"/>
            <a:ext cx="1371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36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36F"/>
                </a:solidFill>
                <a:latin typeface="Aptos"/>
                <a:ea typeface="Aptos"/>
                <a:cs typeface="Aptos"/>
              </a:rPr>
              <a:t>短码命中后快速跳转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60DF01-2428-4E09-86B1-97045B2B6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2190750"/>
            <a:ext cx="1714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2302D">
                <a:alpha val="1200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36C292E-EE70-4284-90A7-0E36C0B02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343150"/>
            <a:ext cx="1371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F6F5E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2F6F5E"/>
                </a:solidFill>
                <a:latin typeface="Aptos Display"/>
                <a:ea typeface="Aptos Display"/>
                <a:cs typeface="Aptos Display"/>
              </a:rPr>
              <a:t>Redis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7657785-DDE7-48D2-B25C-F4F4CDD9A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781300"/>
            <a:ext cx="1371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36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36F"/>
                </a:solidFill>
                <a:latin typeface="Aptos"/>
                <a:ea typeface="Aptos"/>
                <a:cs typeface="Aptos"/>
              </a:rPr>
              <a:t>短码映射优先命中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357EF0-4819-4C40-A4F5-A8108103C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190750"/>
            <a:ext cx="1714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2302D">
                <a:alpha val="1200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C34BF0-77E3-4022-8D89-BFBFEA338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343150"/>
            <a:ext cx="13716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5D7890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5D7890"/>
                </a:solidFill>
                <a:latin typeface="Aptos Display"/>
                <a:ea typeface="Aptos Display"/>
                <a:cs typeface="Aptos Display"/>
              </a:rPr>
              <a:t>Async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755828-5DF0-4384-B2B5-C888FA8A1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781300"/>
            <a:ext cx="13716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36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36F"/>
                </a:solidFill>
                <a:latin typeface="Aptos"/>
                <a:ea typeface="Aptos"/>
                <a:cs typeface="Aptos"/>
              </a:rPr>
              <a:t>事件进入队列写库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C672D1-A5AC-4E0A-AEC8-4201926D82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3238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02D"/>
          </a:solidFill>
          <a:ln xmlns:a="http://schemas.openxmlformats.org/drawingml/2006/main" w="9525">
            <a:solidFill>
              <a:srgbClr val="22302D">
                <a:alpha val="1200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C48C3B6-21A9-4D0D-852F-DA1D83C56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1924050"/>
            <a:ext cx="2971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/s/{code}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86E2D54-08CD-44D8-8C8F-0956B376C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228850"/>
            <a:ext cx="2971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9C8C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9C8C1"/>
                </a:solidFill>
                <a:latin typeface="Aptos"/>
                <a:ea typeface="Aptos"/>
                <a:cs typeface="Aptos"/>
              </a:rPr>
              <a:t>解析短码，找到 resultId，生成 Location。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A04BB0-02C0-4AE8-B4BD-490323390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52750"/>
            <a:ext cx="3238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02D"/>
          </a:solidFill>
          <a:ln xmlns:a="http://schemas.openxmlformats.org/drawingml/2006/main" w="9525">
            <a:solidFill>
              <a:srgbClr val="22302D">
                <a:alpha val="1200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FFD2062-7DBA-46E9-9E47-1590D4FC5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086100"/>
            <a:ext cx="2971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VisitEventService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42854E-3985-42F0-9315-EA00DF125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390900"/>
            <a:ext cx="2971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9C8C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9C8C1"/>
                </a:solidFill>
                <a:latin typeface="Aptos"/>
                <a:ea typeface="Aptos"/>
                <a:cs typeface="Aptos"/>
              </a:rPr>
              <a:t>清洗来源、脱敏 hash、进入本地队列。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165B27-80D5-46CE-A377-5A97F052E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114800"/>
            <a:ext cx="3238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02D"/>
          </a:solidFill>
          <a:ln xmlns:a="http://schemas.openxmlformats.org/drawingml/2006/main" w="9525">
            <a:solidFill>
              <a:srgbClr val="22302D">
                <a:alpha val="1200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2C11D6-45E2-4B39-8039-1AEE89F99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248150"/>
            <a:ext cx="2971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Admin Runtime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170D93-66DC-4A0F-A12E-451B061D2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4552950"/>
            <a:ext cx="2971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9C8C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9C8C1"/>
                </a:solidFill>
                <a:latin typeface="Aptos"/>
                <a:ea typeface="Aptos"/>
                <a:cs typeface="Aptos"/>
              </a:rPr>
              <a:t>队列、丢弃、落库和 worker 状态可观察。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45C130C-2024-4939-A110-A6F69AD38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20980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9B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90A1A9C-74E0-4944-99B1-840B92046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2133600"/>
            <a:ext cx="285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9B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5303EA6-0E4A-4FB6-B835-FDD642D7C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371850"/>
            <a:ext cx="3619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2C86F67-F4C0-49CB-AAB5-590493A9B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3295650"/>
            <a:ext cx="285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71C8DB3-6CCD-4802-830A-ABB887BDE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02D">
              <a:alpha val="2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07A64C9-D05B-4108-8B3A-CCB4EE7C0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36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36F"/>
                </a:solidFill>
                <a:latin typeface="Aptos"/>
                <a:ea typeface="Aptos"/>
                <a:cs typeface="Aptos"/>
              </a:rPr>
              <a:t>五行人格卡项目展示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60D6D36-ED6B-47DB-9455-DE8D32119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9605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F6F5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6F5E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30962875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A5BC813-F800-4AC7-AB80-97D52CCFB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A92F92-DC69-4A33-86E1-445ADBA2E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A85B11-E00C-458A-B22A-791248F77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9B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B510FE-6F7F-4A9A-9820-D48D887E0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C642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8C642D"/>
                </a:solidFill>
                <a:latin typeface="Aptos"/>
                <a:ea typeface="Aptos"/>
                <a:cs typeface="Aptos"/>
              </a:rPr>
              <a:t>DATA CENTER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D89E8D-4BB9-4809-92CB-5DA0D2473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6858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2302D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22302D"/>
                </a:solidFill>
                <a:latin typeface="Aptos Display"/>
                <a:ea typeface="Aptos Display"/>
                <a:cs typeface="Aptos Display"/>
              </a:rPr>
              <a:t>数据中台把传播效果变成可观察证据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B27731-0E76-4899-A53C-94383A4D7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62100"/>
            <a:ext cx="6191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36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36F"/>
                </a:solidFill>
                <a:latin typeface="Aptos"/>
                <a:ea typeface="Aptos"/>
                <a:cs typeface="Aptos"/>
              </a:rPr>
              <a:t>桌面端不只看 PV，而是把口径、诊断、复盘和运行态串成可行动判断。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57A054-1F5F-46FD-8CB5-66431A12C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" y="1828800"/>
            <a:ext cx="5924550" cy="335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2302D">
                <a:alpha val="12000"/>
              </a:srgbClr>
            </a:solidFill>
            <a:prstDash val="solid"/>
          </a:ln>
        </p:spPr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4cdebd9bbd14696"/>
          <a:srcRect xmlns:a="http://schemas.openxmlformats.org/drawingml/2006/main" l="0" t="44922" r="0" b="4492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885950"/>
            <a:ext cx="5810250" cy="323850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5B4B6B-EE21-4BFC-B9B6-36CBBA09F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790700"/>
            <a:ext cx="4095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ED"/>
          </a:solidFill>
          <a:ln xmlns:a="http://schemas.openxmlformats.org/drawingml/2006/main" w="9525">
            <a:solidFill>
              <a:srgbClr val="22302D">
                <a:alpha val="1200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8D9B09B-08F3-4050-A934-6482A4E30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19431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6E130C-C29D-4AFC-81E7-EB0B760A1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038350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63854CA-A16C-4FFF-9A53-A5D834711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92405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2302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2302D"/>
                </a:solidFill>
                <a:latin typeface="Aptos"/>
                <a:ea typeface="Aptos"/>
                <a:cs typeface="Aptos"/>
              </a:rPr>
              <a:t>复盘摘要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7B1BB8-A725-436B-84D3-EB2D10F28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09800"/>
            <a:ext cx="1695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36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36F"/>
                </a:solidFill>
                <a:latin typeface="Aptos"/>
                <a:ea typeface="Aptos"/>
                <a:cs typeface="Aptos"/>
              </a:rPr>
              <a:t>按当前筛选自动生成可复制结论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6DA9667-70F3-41AC-A84C-D07B9F2E3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962150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5E">
              <a:alpha val="8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CC59CB2-4E97-483F-82DB-8A3F16A68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000250"/>
            <a:ext cx="1066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2F6F5E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2F6F5E"/>
                </a:solidFill>
                <a:latin typeface="Aptos"/>
                <a:ea typeface="Aptos"/>
                <a:cs typeface="Aptos"/>
              </a:rPr>
              <a:t>口径: 日期 + perf-test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97AC72-1F8E-4D30-B31C-45EE044EB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228850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5E">
              <a:alpha val="8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249E60-7BA9-453B-B1E2-65F02367C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266950"/>
            <a:ext cx="1066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2F6F5E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2F6F5E"/>
                </a:solidFill>
                <a:latin typeface="Aptos"/>
                <a:ea typeface="Aptos"/>
                <a:cs typeface="Aptos"/>
              </a:rPr>
              <a:t>核心: PV / 完成 / 回流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032089-7E9C-4F94-AD3E-895BB990B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2495550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5E">
              <a:alpha val="8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076E14-1888-480D-B874-EC84835CC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533650"/>
            <a:ext cx="1066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2F6F5E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2F6F5E"/>
                </a:solidFill>
                <a:latin typeface="Aptos"/>
                <a:ea typeface="Aptos"/>
                <a:cs typeface="Aptos"/>
              </a:rPr>
              <a:t>行动: P0/P1/P2 建议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7E1C285-E229-4A2F-B703-CB111F80A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086100"/>
            <a:ext cx="4095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2302D">
                <a:alpha val="1200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814769-C52E-42C3-A4E1-1599C2E09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2385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9633FB-467B-4724-BFFE-D0FE68C1B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333750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B3359D-3980-47C1-AD7D-F3186D6BC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21945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2302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2302D"/>
                </a:solidFill>
                <a:latin typeface="Aptos"/>
                <a:ea typeface="Aptos"/>
                <a:cs typeface="Aptos"/>
              </a:rPr>
              <a:t>口径保护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DDBC919-440B-4A6B-9D5D-164F0F0DDC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505200"/>
            <a:ext cx="1695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36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36F"/>
                </a:solidFill>
                <a:latin typeface="Aptos"/>
                <a:ea typeface="Aptos"/>
                <a:cs typeface="Aptos"/>
              </a:rPr>
              <a:t>工程验证流量默认不进入运营结论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928EE04-E490-4AB5-A98D-4A813D22D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257550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5E">
              <a:alpha val="8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640A6CA-60D9-403B-85F9-158ADA12D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295650"/>
            <a:ext cx="1066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2F6F5E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2F6F5E"/>
                </a:solidFill>
                <a:latin typeface="Aptos"/>
                <a:ea typeface="Aptos"/>
                <a:cs typeface="Aptos"/>
              </a:rPr>
              <a:t>X-Channel=perf-test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59CE750-55D0-4D0F-8279-AC87E9B31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524250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5E">
              <a:alpha val="8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FE1BE05-7813-4386-AB4A-A26D3DDE8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562350"/>
            <a:ext cx="1066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2F6F5E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2F6F5E"/>
                </a:solidFill>
                <a:latin typeface="Aptos"/>
                <a:ea typeface="Aptos"/>
                <a:cs typeface="Aptos"/>
              </a:rPr>
              <a:t>RUN_ID 追踪批次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92A4366-DF00-4A53-AEA2-A0DE7F3DC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3790950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5E">
              <a:alpha val="8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83B0841-B673-4647-B846-3C5005448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829050"/>
            <a:ext cx="1066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2F6F5E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2F6F5E"/>
                </a:solidFill>
                <a:latin typeface="Aptos"/>
                <a:ea typeface="Aptos"/>
                <a:cs typeface="Aptos"/>
              </a:rPr>
              <a:t>includeSynthetic 用于复盘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F238CA3-8582-4069-A6C0-7365F925C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381500"/>
            <a:ext cx="40957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C"/>
          </a:solidFill>
          <a:ln xmlns:a="http://schemas.openxmlformats.org/drawingml/2006/main" w="9525">
            <a:solidFill>
              <a:srgbClr val="22302D">
                <a:alpha val="1200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755F165-26F3-49D0-954F-50258D82F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533900"/>
            <a:ext cx="4000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535847F-C561-4D3F-8CB4-CE35BC3AE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4629150"/>
            <a:ext cx="4000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D5212EE-C4F3-4BB3-AAAA-C3501EEDC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514850"/>
            <a:ext cx="1524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2302D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22302D"/>
                </a:solidFill>
                <a:latin typeface="Aptos"/>
                <a:ea typeface="Aptos"/>
                <a:cs typeface="Aptos"/>
              </a:rPr>
              <a:t>运行态排障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BCE8A7B-CA4A-404B-BD44-41F836C92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800600"/>
            <a:ext cx="16954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36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36F"/>
                </a:solidFill>
                <a:latin typeface="Aptos"/>
                <a:ea typeface="Aptos"/>
                <a:cs typeface="Aptos"/>
              </a:rPr>
              <a:t>避免“接口很快但统计坏了”的假象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E55A8F4-79DB-4814-AA00-0331A381C0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552950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5E">
              <a:alpha val="8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ED230D9-7DCF-43E2-AE40-F13B12CAE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591050"/>
            <a:ext cx="1066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2F6F5E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2F6F5E"/>
                </a:solidFill>
                <a:latin typeface="Aptos"/>
                <a:ea typeface="Aptos"/>
                <a:cs typeface="Aptos"/>
              </a:rPr>
              <a:t>queue / dropped / failures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962F34F-1BB8-4809-8ACF-7B3631A97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4819650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5E">
              <a:alpha val="8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2343F34-A44F-43E9-B20C-5BEDB2EE1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857750"/>
            <a:ext cx="1066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2F6F5E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2F6F5E"/>
                </a:solidFill>
                <a:latin typeface="Aptos"/>
                <a:ea typeface="Aptos"/>
                <a:cs typeface="Aptos"/>
              </a:rPr>
              <a:t>RocketMQ shadow / fallback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EE0C1AF-57AF-4243-9F97-CC4056EC6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86350"/>
            <a:ext cx="1257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5E">
              <a:alpha val="8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B6DE0D1-0676-497A-8F39-ED35792D1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5124450"/>
            <a:ext cx="1066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2F6F5E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2F6F5E"/>
                </a:solidFill>
                <a:latin typeface="Aptos"/>
                <a:ea typeface="Aptos"/>
                <a:cs typeface="Aptos"/>
              </a:rPr>
              <a:t>worker health gate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B64E8F2-024D-48F7-8940-C4B65CA97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0"/>
            <a:ext cx="57150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72000"/>
            </a:srgbClr>
          </a:solidFill>
          <a:ln xmlns:a="http://schemas.openxmlformats.org/drawingml/2006/main" w="9525">
            <a:solidFill>
              <a:srgbClr val="22302D">
                <a:alpha val="10000"/>
              </a:srgbClr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2EA47D2-5B08-449E-88D6-DFA032E7C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553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F8C7019-3FBF-42C5-9127-3245DA31E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00700"/>
            <a:ext cx="228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E7B0B37-9BAB-4707-8A30-BF4FC6F57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524500"/>
            <a:ext cx="7239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2302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2302D"/>
                </a:solidFill>
                <a:latin typeface="Aptos"/>
                <a:ea typeface="Aptos"/>
                <a:cs typeface="Aptos"/>
              </a:rPr>
              <a:t>口径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0169858F-2501-4799-B7DA-E02DB0832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695950"/>
            <a:ext cx="914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6736F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6736F"/>
                </a:solidFill>
                <a:latin typeface="Aptos"/>
                <a:ea typeface="Aptos"/>
                <a:cs typeface="Aptos"/>
              </a:rPr>
              <a:t>先确认日期与测试流量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718ECD3-E3D7-4E45-868F-2AAE1CDBB7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5553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384ED18-5064-4DC9-A6FE-3660F4765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275" y="5600700"/>
            <a:ext cx="228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01AE1E72-E861-42C9-A4CA-58F290352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5524500"/>
            <a:ext cx="7239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2302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2302D"/>
                </a:solidFill>
                <a:latin typeface="Aptos"/>
                <a:ea typeface="Aptos"/>
                <a:cs typeface="Aptos"/>
              </a:rPr>
              <a:t>判断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DD73EF3-86F2-4312-A065-AFF904D0C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5695950"/>
            <a:ext cx="914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6736F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6736F"/>
                </a:solidFill>
                <a:latin typeface="Aptos"/>
                <a:ea typeface="Aptos"/>
                <a:cs typeface="Aptos"/>
              </a:rPr>
              <a:t>用雷达与漏斗找断点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B0AA886C-858D-4F89-9803-AA9978C6A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5553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34354FC-0B65-4559-BD77-D4B191903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5600700"/>
            <a:ext cx="228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A00DE0D2-A36E-46B1-AB3C-FA97F71AB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524500"/>
            <a:ext cx="7239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2302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2302D"/>
                </a:solidFill>
                <a:latin typeface="Aptos"/>
                <a:ea typeface="Aptos"/>
                <a:cs typeface="Aptos"/>
              </a:rPr>
              <a:t>定位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BAE9D89-5C30-4ED4-A4BC-8BD4A7EA8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5695950"/>
            <a:ext cx="914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6736F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6736F"/>
                </a:solidFill>
                <a:latin typeface="Aptos"/>
                <a:ea typeface="Aptos"/>
                <a:cs typeface="Aptos"/>
              </a:rPr>
              <a:t>按渠道、短链、运行态追查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2C2D7A8-9D5E-46E2-BF08-9B8359264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5553075"/>
            <a:ext cx="228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9B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A5976FF-2A4B-4F9B-93EB-E674D31686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5600700"/>
            <a:ext cx="2286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63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63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BCD17FA-019F-4457-8EF9-2954E6520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5524500"/>
            <a:ext cx="7239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22302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2302D"/>
                </a:solidFill>
                <a:latin typeface="Aptos"/>
                <a:ea typeface="Aptos"/>
                <a:cs typeface="Aptos"/>
              </a:rPr>
              <a:t>行动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4543A20-8882-4C2D-94E4-9F902FE3F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5695950"/>
            <a:ext cx="9144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38" b="0">
                <a:solidFill>
                  <a:srgbClr val="66736F"/>
                </a:solidFill>
                <a:latin typeface="Aptos"/>
                <a:ea typeface="Aptos"/>
                <a:cs typeface="Aptos"/>
              </a:defRPr>
            </a:pPr>
            <a:r>
              <a:rPr sz="638" b="0">
                <a:solidFill>
                  <a:srgbClr val="66736F"/>
                </a:solidFill>
                <a:latin typeface="Aptos"/>
                <a:ea typeface="Aptos"/>
                <a:cs typeface="Aptos"/>
              </a:rPr>
              <a:t>复制摘要沉淀复盘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0D77641-4414-496E-B502-088B3F82D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02D">
              <a:alpha val="2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A7513CB-06BA-4A7D-844C-1053860DC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36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36F"/>
                </a:solidFill>
                <a:latin typeface="Aptos"/>
                <a:ea typeface="Aptos"/>
                <a:cs typeface="Aptos"/>
              </a:rPr>
              <a:t>五行人格卡项目展示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270A904-CF95-4C83-9802-E8CDAB437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9605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F6F5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6F5E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759163175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CE9A1C7-9FA0-415E-B413-CD1654C56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7BABEEC-2A6D-4EBB-82E9-864F7D976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EB4F52-23AA-4DD0-9965-147DAB82A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9B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6CCCE1-3AD8-4130-8B8D-E52DBC81E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C642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8C642D"/>
                </a:solidFill>
                <a:latin typeface="Aptos"/>
                <a:ea typeface="Aptos"/>
                <a:cs typeface="Aptos"/>
              </a:rPr>
              <a:t>DATA MODEL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07CDE71-4D10-41E2-9872-9357D1FE81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6858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2302D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22302D"/>
                </a:solidFill>
                <a:latin typeface="Aptos Display"/>
                <a:ea typeface="Aptos Display"/>
                <a:cs typeface="Aptos Display"/>
              </a:rPr>
              <a:t>统计不是只查明细，而是 live_event + daily_metric 分层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A6292A-A785-4ADC-AA48-44DF0BCB2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62100"/>
            <a:ext cx="6191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36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36F"/>
                </a:solidFill>
                <a:latin typeface="Aptos"/>
                <a:ea typeface="Aptos"/>
                <a:cs typeface="Aptos"/>
              </a:rPr>
              <a:t>明细负责实时，日聚合负责历史低成本查询，外部统计只在外部短链模式下补充。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BCEA8C-E2E0-43C4-8301-BB1B320E9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305050"/>
            <a:ext cx="2476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2302D">
                <a:alpha val="12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49F69C-979C-4A90-8D9D-CDC2D94DD0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438400"/>
            <a:ext cx="2209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2302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2302D"/>
                </a:solidFill>
                <a:latin typeface="Aptos"/>
                <a:ea typeface="Aptos"/>
                <a:cs typeface="Aptos"/>
              </a:rPr>
              <a:t>visit_event 明细层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3864865-4C4B-41D3-B40A-E65D4AE5C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743200"/>
            <a:ext cx="2209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36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36F"/>
                </a:solidFill>
                <a:latin typeface="Aptos"/>
                <a:ea typeface="Aptos"/>
                <a:cs typeface="Aptos"/>
              </a:rPr>
              <a:t>记录 PV、UV、短链访问、渠道、设备和匿名 hash。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EC6034-6E99-41DF-9615-790BC6FB4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05050"/>
            <a:ext cx="2476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ED"/>
          </a:solidFill>
          <a:ln xmlns:a="http://schemas.openxmlformats.org/drawingml/2006/main" w="9525">
            <a:solidFill>
              <a:srgbClr val="22302D">
                <a:alpha val="12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C6851A5-A341-4036-9BC4-785A4AD926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438400"/>
            <a:ext cx="2209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2302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2302D"/>
                </a:solidFill>
                <a:latin typeface="Aptos"/>
                <a:ea typeface="Aptos"/>
                <a:cs typeface="Aptos"/>
              </a:rPr>
              <a:t>daily_metric 聚合层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44ED1BF-0CAB-4FBE-948B-68545D3B4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743200"/>
            <a:ext cx="2209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36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36F"/>
                </a:solidFill>
                <a:latin typeface="Aptos"/>
                <a:ea typeface="Aptos"/>
                <a:cs typeface="Aptos"/>
              </a:rPr>
              <a:t>闭合日期汇总 site 和 short_link 指标。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0DEA82-0B7F-47B3-BBB0-5C9F41319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305050"/>
            <a:ext cx="24765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C"/>
          </a:solidFill>
          <a:ln xmlns:a="http://schemas.openxmlformats.org/drawingml/2006/main" w="9525">
            <a:solidFill>
              <a:srgbClr val="22302D">
                <a:alpha val="1200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742156-A8B5-42FC-BB36-12167A0EC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438400"/>
            <a:ext cx="2209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2302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2302D"/>
                </a:solidFill>
                <a:latin typeface="Aptos"/>
                <a:ea typeface="Aptos"/>
                <a:cs typeface="Aptos"/>
              </a:rPr>
              <a:t>Admin 查询层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5CD7CE-B4F5-42FA-B9DF-B3998694E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743200"/>
            <a:ext cx="22098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36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36F"/>
                </a:solidFill>
                <a:latin typeface="Aptos"/>
                <a:ea typeface="Aptos"/>
                <a:cs typeface="Aptos"/>
              </a:rPr>
              <a:t>根据日期选择实时、聚合或混合口径。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E28489-BC25-4DC6-8525-226879713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7100" y="2857500"/>
            <a:ext cx="819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03BB92-74E8-4BD0-AF4D-82F451376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781300"/>
            <a:ext cx="285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9BE4F0-42B3-48B1-BCFD-BC2146B459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6100" y="2857500"/>
            <a:ext cx="8191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737CF7-3269-4029-BAF7-E368DA4A0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781300"/>
            <a:ext cx="285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A2F403E-7189-4DB7-845F-0C2A49B54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362450"/>
            <a:ext cx="7810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ED"/>
          </a:solidFill>
          <a:ln xmlns:a="http://schemas.openxmlformats.org/drawingml/2006/main" w="9525">
            <a:solidFill>
              <a:srgbClr val="22302D">
                <a:alpha val="1200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AD0FBA-9D97-486D-B480-D8846E46D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495800"/>
            <a:ext cx="7543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2302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2302D"/>
                </a:solidFill>
                <a:latin typeface="Aptos"/>
                <a:ea typeface="Aptos"/>
                <a:cs typeface="Aptos"/>
              </a:rPr>
              <a:t>口径原则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174CD5-4705-4E2A-A5DC-FF64CAA24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800600"/>
            <a:ext cx="75438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36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36F"/>
                </a:solidFill>
                <a:latin typeface="Aptos"/>
                <a:ea typeface="Aptos"/>
                <a:cs typeface="Aptos"/>
              </a:rPr>
              <a:t>今天和未聚合日期看实时事件；历史闭合日期优先日聚合；外部短链统计必须单独标注来源。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3994F0-869F-4299-8C1B-23FC86053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02D">
              <a:alpha val="2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675B652-3872-4304-A615-45BC59711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36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36F"/>
                </a:solidFill>
                <a:latin typeface="Aptos"/>
                <a:ea typeface="Aptos"/>
                <a:cs typeface="Aptos"/>
              </a:rPr>
              <a:t>五行人格卡项目展示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076E0D8-EBB8-4201-A87D-FEB13A492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9605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F6F5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6F5E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7821779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25C1FEA-EB28-4523-9106-1FDED5248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CFFB8C-FAEE-4442-8142-BE8B3CF43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C779FE-031F-480D-8852-A53419D2D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9B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4B051D7-6B69-484C-9D04-DA2B128F3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C642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8C642D"/>
                </a:solidFill>
                <a:latin typeface="Aptos"/>
                <a:ea typeface="Aptos"/>
                <a:cs typeface="Aptos"/>
              </a:rPr>
              <a:t>PRIVACY &amp; SAFETY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F9CEA3A-1EAD-4F6A-A91D-2816CF1FA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6858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2302D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22302D"/>
                </a:solidFill>
                <a:latin typeface="Aptos Display"/>
                <a:ea typeface="Aptos Display"/>
                <a:cs typeface="Aptos Display"/>
              </a:rPr>
              <a:t>匿名统计的边界比堆数据更重要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D63C67-242E-47B5-8405-F25ACF69C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62100"/>
            <a:ext cx="6191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36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36F"/>
                </a:solidFill>
                <a:latin typeface="Aptos"/>
                <a:ea typeface="Aptos"/>
                <a:cs typeface="Aptos"/>
              </a:rPr>
              <a:t>后台要看到趋势，但不需要看到真实身份信息。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C25198-4FA0-46EB-A29E-FDB6B0B04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95500"/>
            <a:ext cx="28575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ED"/>
          </a:solidFill>
          <a:ln xmlns:a="http://schemas.openxmlformats.org/drawingml/2006/main" w="9525">
            <a:solidFill>
              <a:srgbClr val="22302D">
                <a:alpha val="12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E69751B-777B-4986-906B-DA4957CC4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28850"/>
            <a:ext cx="2590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2302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2302D"/>
                </a:solidFill>
                <a:latin typeface="Aptos"/>
                <a:ea typeface="Aptos"/>
                <a:cs typeface="Aptos"/>
              </a:rPr>
              <a:t>采集什么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B667EF-6477-45F8-A2CE-359F95EF8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33650"/>
            <a:ext cx="2590800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36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36F"/>
                </a:solidFill>
                <a:latin typeface="Aptos"/>
                <a:ea typeface="Aptos"/>
                <a:cs typeface="Aptos"/>
              </a:rPr>
              <a:t>事件类型、页面路径、短码、渠道、设备类型、脱敏后的 client/ip/ua hash。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F2FFB2-B0D4-4340-B417-48AFB3BAB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095500"/>
            <a:ext cx="28575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2302D">
                <a:alpha val="12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5B2F5E-4074-47BA-BF0F-00DB31C3E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228850"/>
            <a:ext cx="2590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2302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2302D"/>
                </a:solidFill>
                <a:latin typeface="Aptos"/>
                <a:ea typeface="Aptos"/>
                <a:cs typeface="Aptos"/>
              </a:rPr>
              <a:t>不采集什么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F12199-A8C2-45A2-BEB9-125C1DD26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533650"/>
            <a:ext cx="2590800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36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36F"/>
                </a:solidFill>
                <a:latin typeface="Aptos"/>
                <a:ea typeface="Aptos"/>
                <a:cs typeface="Aptos"/>
              </a:rPr>
              <a:t>不保存真实姓名、联系方式、原始 IP、完整 UA 或带 query 的 referer。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4FB4B3-C5FC-495B-B821-856BA19CB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095500"/>
            <a:ext cx="28575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C"/>
          </a:solidFill>
          <a:ln xmlns:a="http://schemas.openxmlformats.org/drawingml/2006/main" w="9525">
            <a:solidFill>
              <a:srgbClr val="22302D">
                <a:alpha val="1200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8D7EB8-026E-43FE-BFE7-E15AB893C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228850"/>
            <a:ext cx="2590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2302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2302D"/>
                </a:solidFill>
                <a:latin typeface="Aptos"/>
                <a:ea typeface="Aptos"/>
                <a:cs typeface="Aptos"/>
              </a:rPr>
              <a:t>如何保护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5A9BB1A-E91F-4C7D-ABE4-3C76CCD9D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533650"/>
            <a:ext cx="2590800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36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36F"/>
                </a:solidFill>
                <a:latin typeface="Aptos"/>
                <a:ea typeface="Aptos"/>
                <a:cs typeface="Aptos"/>
              </a:rPr>
              <a:t>后台 token、CSV 注入防护、事件写入降级、异常统一响应。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22A09E-CF27-4581-BBD7-79FFDAF3B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143500"/>
            <a:ext cx="8191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2302D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22302D"/>
                </a:solidFill>
                <a:latin typeface="Aptos"/>
                <a:ea typeface="Aptos"/>
                <a:cs typeface="Aptos"/>
              </a:rPr>
              <a:t>面试表达：这是娱乐型人格产品，统计链路服务运营和排障，不承担身份画像或现实决策。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EF2A34-DE5A-4618-8757-9EC0AAE3C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02D">
              <a:alpha val="2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74D2B6-49FD-4A50-BC14-59F0504C2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36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36F"/>
                </a:solidFill>
                <a:latin typeface="Aptos"/>
                <a:ea typeface="Aptos"/>
                <a:cs typeface="Aptos"/>
              </a:rPr>
              <a:t>五行人格卡项目展示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5E59285-E609-4221-B8E7-72A231C4E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9605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F6F5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6F5E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604676198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B250D44-95E8-4392-AE40-29CAF71EB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11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D4D713-7D3D-41F9-94E1-101670579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D79B4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D79B43"/>
                </a:solidFill>
                <a:latin typeface="Aptos"/>
                <a:ea typeface="Aptos"/>
                <a:cs typeface="Aptos"/>
              </a:rPr>
              <a:t>PERFORMANCE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839049A-03D6-4C6B-A68D-77F16588A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6858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压测记录显示：512 阶梯健康，768 阶梯触达延迟边界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B4252F-83A4-486C-997F-5BEF6E6D9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62100"/>
            <a:ext cx="6191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B9C8C1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B9C8C1"/>
                </a:solidFill>
                <a:latin typeface="Aptos"/>
                <a:ea typeface="Aptos"/>
                <a:cs typeface="Aptos"/>
              </a:rPr>
              <a:t>本地 H2/单机模式不能包装成生产 QPS，但已经沉淀出脚本、指标、停止条件和瓶颈判断口径。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B771BA-55CC-4997-8375-C89223EEE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514350"/>
            <a:ext cx="31432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9B43">
              <a:alpha val="18000"/>
            </a:srgbClr>
          </a:solidFill>
          <a:ln xmlns:a="http://schemas.openxmlformats.org/drawingml/2006/main" w="9525">
            <a:solidFill>
              <a:srgbClr val="D79B43">
                <a:alpha val="5500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FA2C905-5BBA-4EEF-8E45-352AAEC48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619125"/>
            <a:ext cx="28384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13" b="1">
                <a:solidFill>
                  <a:srgbClr val="D79B43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D79B43"/>
                </a:solidFill>
                <a:latin typeface="Aptos"/>
                <a:ea typeface="Aptos"/>
                <a:cs typeface="Aptos"/>
              </a:rPr>
              <a:t>LOCAL METHOD EVIDENCE · NOT PRODUCTION QPS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EE0BF47-7643-49FF-9D10-9B355AB08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1809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2302D">
                <a:alpha val="12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4EB491-BAA6-4343-9E4C-2F1DF327E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52650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D79B43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D79B43"/>
                </a:solidFill>
                <a:latin typeface="Aptos Display"/>
                <a:ea typeface="Aptos Display"/>
                <a:cs typeface="Aptos Display"/>
              </a:rPr>
              <a:t>458.78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EAF5E5-6669-4BA0-8576-B8EF48B83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590800"/>
            <a:ext cx="1466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36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36F"/>
                </a:solidFill>
                <a:latin typeface="Aptos"/>
                <a:ea typeface="Aptos"/>
                <a:cs typeface="Aptos"/>
              </a:rPr>
              <a:t>512 阶梯阶段 RPS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60B1E8-507D-4D8A-A50F-5A0C505377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2000250"/>
            <a:ext cx="1809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2302D">
                <a:alpha val="12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AC8C05-82AF-463C-9BF0-D798B66B7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152650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F6F5E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2F6F5E"/>
                </a:solidFill>
                <a:latin typeface="Aptos Display"/>
                <a:ea typeface="Aptos Display"/>
                <a:cs typeface="Aptos Display"/>
              </a:rPr>
              <a:t>406ms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2DEF0DB-AEDA-41C9-84C8-AB5D0A751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2590800"/>
            <a:ext cx="1466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36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36F"/>
                </a:solidFill>
                <a:latin typeface="Aptos"/>
                <a:ea typeface="Aptos"/>
                <a:cs typeface="Aptos"/>
              </a:rPr>
              <a:t>512 mixed 阶梯 P95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7D9C82-367C-4793-9225-94F47819E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000250"/>
            <a:ext cx="18097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2302D">
                <a:alpha val="1200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FB4935-D361-4A7B-A694-1A5F5E0F5E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152650"/>
            <a:ext cx="14668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B85B48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B85B48"/>
                </a:solidFill>
                <a:latin typeface="Aptos Display"/>
                <a:ea typeface="Aptos Display"/>
                <a:cs typeface="Aptos Display"/>
              </a:rPr>
              <a:t>1769ms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5960513-BBD0-4B77-B429-FA8F8DBF4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590800"/>
            <a:ext cx="1466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66736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66736F"/>
                </a:solidFill>
                <a:latin typeface="Aptos"/>
                <a:ea typeface="Aptos"/>
                <a:cs typeface="Aptos"/>
              </a:rPr>
              <a:t>768 阶段触发停止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CBBB96-01E9-44A7-9824-691EBF287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152650"/>
            <a:ext cx="1485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短链 P95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54AC8E-8D07-42C7-8C5B-EB08E3B5E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200275"/>
            <a:ext cx="2476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02D">
              <a:alpha val="1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65CD5C-879D-4DCE-8BCE-7586605E8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200275"/>
            <a:ext cx="245745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9B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E232A8-FFCA-4644-91FE-284CBC48E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2143125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8C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9C8C1"/>
                </a:solidFill>
                <a:latin typeface="Aptos"/>
                <a:ea typeface="Aptos"/>
                <a:cs typeface="Aptos"/>
              </a:rPr>
              <a:t>1787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8C620A-874E-43A1-8297-B593D89C2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628900"/>
            <a:ext cx="1485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结果 P95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6B2B0A-5186-44BE-953A-5831CE0D8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676525"/>
            <a:ext cx="2476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02D">
              <a:alpha val="1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AEAA01-8454-4A27-8B3E-80AD24C9B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676525"/>
            <a:ext cx="2314575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AFEE507-64D5-470C-9576-478AD2B6A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2619375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8C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9C8C1"/>
                </a:solidFill>
                <a:latin typeface="Aptos"/>
                <a:ea typeface="Aptos"/>
                <a:cs typeface="Aptos"/>
              </a:rPr>
              <a:t>1680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5FE2E51-2B14-4A0B-B100-7C8BD9828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105150"/>
            <a:ext cx="1485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后台 P95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FCB5022-15A3-481B-B578-4CADCBBAC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152775"/>
            <a:ext cx="2476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02D">
              <a:alpha val="1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1BA047E-9F81-44B6-A26A-7DA5B5245E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152775"/>
            <a:ext cx="23241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D789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1D1B1D5-6C56-45D6-9E01-7545ECB17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3095625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8C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9C8C1"/>
                </a:solidFill>
                <a:latin typeface="Aptos"/>
                <a:ea typeface="Aptos"/>
                <a:cs typeface="Aptos"/>
              </a:rPr>
              <a:t>1689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DAAE0A5-22BD-49D0-B3BF-B52734781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81400"/>
            <a:ext cx="1485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健康 P95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6A0104C-1458-4052-8599-8067A21EB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629025"/>
            <a:ext cx="24765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02D">
              <a:alpha val="10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A15237A-1373-404C-8CA2-CDB52784A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629025"/>
            <a:ext cx="18288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5B4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0980CD6-3729-4734-B691-7B7B70B52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53800" y="3571875"/>
            <a:ext cx="4953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B9C8C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9C8C1"/>
                </a:solidFill>
                <a:latin typeface="Aptos"/>
                <a:ea typeface="Aptos"/>
                <a:cs typeface="Aptos"/>
              </a:rPr>
              <a:t>1331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BB797B9-1C13-46E9-BAF6-4D872C7F4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038600"/>
            <a:ext cx="85725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02D"/>
          </a:solidFill>
          <a:ln xmlns:a="http://schemas.openxmlformats.org/drawingml/2006/main" w="9525">
            <a:solidFill>
              <a:srgbClr val="22302D">
                <a:alpha val="1200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CDBD597-10FD-44F5-AFD1-71F7929E4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171950"/>
            <a:ext cx="8305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压测边界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2093567-6D07-4E46-ABB6-643ADC6AC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476750"/>
            <a:ext cx="83058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B9C8C1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B9C8C1"/>
                </a:solidFill>
                <a:latin typeface="Aptos"/>
                <a:ea typeface="Aptos"/>
                <a:cs typeface="Aptos"/>
              </a:rPr>
              <a:t>768 阶梯错误率、队列积压、丢弃事件仍为 0，但所有业务接口 P95 同步升高：当前瓶颈更可能是 HTTP/查询响应延迟，而不是异步访问事件写入爆掉。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BD097CE-050E-41BC-B320-40C28CE7E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2343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2302D">
                <a:alpha val="1200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F2412D2-D737-4CB4-8D9E-20CA76F40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200650"/>
            <a:ext cx="2076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2302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2302D"/>
                </a:solidFill>
                <a:latin typeface="Aptos"/>
                <a:ea typeface="Aptos"/>
                <a:cs typeface="Aptos"/>
              </a:rPr>
              <a:t>legacy 本地样本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D4D3426-3770-438F-9C06-AA22C7178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505450"/>
            <a:ext cx="2076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36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36F"/>
                </a:solidFill>
                <a:latin typeface="Aptos"/>
                <a:ea typeface="Aptos"/>
                <a:cs typeface="Aptos"/>
              </a:rPr>
              <a:t>512/768 是本地 H2 mixed 容量样本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18CD58F-90FD-4475-B47C-8B15D4FCE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410200"/>
            <a:ext cx="552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9B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6D66B60-A702-45F7-A8A8-6C3743F72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5334000"/>
            <a:ext cx="285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9B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1331A60-ED03-4360-BA51-87888F14D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5067300"/>
            <a:ext cx="23431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2302D">
                <a:alpha val="1200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6279E3C9-20FC-4904-8970-09248F1A2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200650"/>
            <a:ext cx="20764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2302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2302D"/>
                </a:solidFill>
                <a:latin typeface="Aptos"/>
                <a:ea typeface="Aptos"/>
                <a:cs typeface="Aptos"/>
              </a:rPr>
              <a:t>新版脚本验证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F6AF266-C0BB-43DF-AEF1-55649FB52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5505450"/>
            <a:ext cx="20764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36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36F"/>
                </a:solidFill>
                <a:latin typeface="Aptos"/>
                <a:ea typeface="Aptos"/>
                <a:cs typeface="Aptos"/>
              </a:rPr>
              <a:t>环境卡片、Location、runtime stop gate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AD6696C-70D1-4DC6-AD9F-1FD27942C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5410200"/>
            <a:ext cx="552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9B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EDED5A0-F91C-4184-AC92-2DA1FC639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334000"/>
            <a:ext cx="285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9B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3D5E8C3-FC91-4ECD-9EC8-6A5ACFE44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5067300"/>
            <a:ext cx="24765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2302D">
                <a:alpha val="1200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D11B486-D94A-4905-81F6-3CF2076E8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5200650"/>
            <a:ext cx="2209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2302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2302D"/>
                </a:solidFill>
                <a:latin typeface="Aptos"/>
                <a:ea typeface="Aptos"/>
                <a:cs typeface="Aptos"/>
              </a:rPr>
              <a:t>下一轮公网重测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AC49A0E-5A98-4B3D-B329-FB8214FEE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5505450"/>
            <a:ext cx="22098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36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36F"/>
                </a:solidFill>
                <a:latin typeface="Aptos"/>
                <a:ea typeface="Aptos"/>
                <a:cs typeface="Aptos"/>
              </a:rPr>
              <a:t>Nginx + Spring Boot + MySQL + Redis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BBADC40-219C-4E09-87DC-554120EE5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02D">
              <a:alpha val="2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7B6C207-C50E-4B0B-BADB-D06AC9B0F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36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36F"/>
                </a:solidFill>
                <a:latin typeface="Aptos"/>
                <a:ea typeface="Aptos"/>
                <a:cs typeface="Aptos"/>
              </a:rPr>
              <a:t>五行人格卡项目展示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587E571-1C6F-4F9E-8997-82CD6EA7F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9605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F6F5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6F5E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127944751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68F7734-A63B-47A9-ADDC-A10E6B459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2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8D86C18-BD15-41AB-878F-677959AD6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5806B5-CA8B-452A-87D2-656D85102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152400"/>
            <a:ext cx="121920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9B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828D80-B421-4A52-BBCB-603309043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38150"/>
            <a:ext cx="3429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8C642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8C642D"/>
                </a:solidFill>
                <a:latin typeface="Aptos"/>
                <a:ea typeface="Aptos"/>
                <a:cs typeface="Aptos"/>
              </a:rPr>
              <a:t>ROADMAP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5CC5952-956A-480F-98E7-8AA4BD7EB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742950"/>
            <a:ext cx="6858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2302D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22302D"/>
                </a:solidFill>
                <a:latin typeface="Aptos Display"/>
                <a:ea typeface="Aptos Display"/>
                <a:cs typeface="Aptos Display"/>
              </a:rPr>
              <a:t>下一步从单机作品走向可运营系统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AF5C77-B5ED-453D-8095-726D9DE4E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1562100"/>
            <a:ext cx="61912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6736F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66736F"/>
                </a:solidFill>
                <a:latin typeface="Aptos"/>
                <a:ea typeface="Aptos"/>
                <a:cs typeface="Aptos"/>
              </a:rPr>
              <a:t>优化路线围绕容量、可观测、一致性和运维安全。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BC17F7-654C-4214-981D-20372FFBA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71750"/>
            <a:ext cx="2000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ED"/>
          </a:solidFill>
          <a:ln xmlns:a="http://schemas.openxmlformats.org/drawingml/2006/main" w="9525">
            <a:solidFill>
              <a:srgbClr val="22302D">
                <a:alpha val="12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66BFAB-D306-422B-AF22-104A73F5C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05100"/>
            <a:ext cx="1733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2302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2302D"/>
                </a:solidFill>
                <a:latin typeface="Aptos"/>
                <a:ea typeface="Aptos"/>
                <a:cs typeface="Aptos"/>
              </a:rPr>
              <a:t>1. 单机高质量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C48843-08C1-4510-BD82-C3D31FFB6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09900"/>
            <a:ext cx="17335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36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36F"/>
                </a:solidFill>
                <a:latin typeface="Aptos"/>
                <a:ea typeface="Aptos"/>
                <a:cs typeface="Aptos"/>
              </a:rPr>
              <a:t>完善中台、报告、学习文档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968F45D-275E-467B-B6A9-182C989C7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3143250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175BB9-7517-4A64-A088-5C42FB787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838450"/>
            <a:ext cx="285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2071F2D-BEFF-44CB-8DD4-FFE9C97B6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2343150"/>
            <a:ext cx="2000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2302D">
                <a:alpha val="12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6B5A0FC-13AA-4C19-A8CF-D6F8826FC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476500"/>
            <a:ext cx="1733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2302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2302D"/>
                </a:solidFill>
                <a:latin typeface="Aptos"/>
                <a:ea typeface="Aptos"/>
                <a:cs typeface="Aptos"/>
              </a:rPr>
              <a:t>2. Docker 压测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203CF63-3F34-4497-8726-7DCE71E28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781300"/>
            <a:ext cx="17335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36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36F"/>
                </a:solidFill>
                <a:latin typeface="Aptos"/>
                <a:ea typeface="Aptos"/>
                <a:cs typeface="Aptos"/>
              </a:rPr>
              <a:t>MySQL/Redis/Nginx 真实路径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33939CA-91B0-4855-9825-5C800AD74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914650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5CBE0EC-A8A3-4B1D-A07C-7EDC68111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609850"/>
            <a:ext cx="285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8671B6D-F9C2-4034-8AD3-1FB9CBCE6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114550"/>
            <a:ext cx="2000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C"/>
          </a:solidFill>
          <a:ln xmlns:a="http://schemas.openxmlformats.org/drawingml/2006/main" w="9525">
            <a:solidFill>
              <a:srgbClr val="22302D">
                <a:alpha val="1200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635CA74-FBB8-45C1-BC7A-4BF479536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247900"/>
            <a:ext cx="1733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2302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2302D"/>
                </a:solidFill>
                <a:latin typeface="Aptos"/>
                <a:ea typeface="Aptos"/>
                <a:cs typeface="Aptos"/>
              </a:rPr>
              <a:t>3. MQ 削峰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D39E74-C945-4E11-9522-764F716D7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552700"/>
            <a:ext cx="17335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36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36F"/>
                </a:solidFill>
                <a:latin typeface="Aptos"/>
                <a:ea typeface="Aptos"/>
                <a:cs typeface="Aptos"/>
              </a:rPr>
              <a:t>RocketMQ producer/consumer、幂等、DLQ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A13EEFC-5DF6-4CFD-A6BE-518E35574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686050"/>
            <a:ext cx="3429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432E14-B888-4F25-8D7F-47376B1D6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381250"/>
            <a:ext cx="285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6F5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037D8A-2949-415E-AF16-EB444DA8B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885950"/>
            <a:ext cx="20002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2302D">
                <a:alpha val="1200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C1B8E0-405F-4C7E-AB52-C48559AD3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019300"/>
            <a:ext cx="1733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2302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2302D"/>
                </a:solidFill>
                <a:latin typeface="Aptos"/>
                <a:ea typeface="Aptos"/>
                <a:cs typeface="Aptos"/>
              </a:rPr>
              <a:t>4. 数据治理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C0CEFCB-A635-4534-9E36-D2508B246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324100"/>
            <a:ext cx="173355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36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36F"/>
                </a:solidFill>
                <a:latin typeface="Aptos"/>
                <a:ea typeface="Aptos"/>
                <a:cs typeface="Aptos"/>
              </a:rPr>
              <a:t>日聚合调度、归档、告警、RBAC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8C764B4-931E-45FD-A33B-875F08E62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229100"/>
            <a:ext cx="2000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ED"/>
          </a:solidFill>
          <a:ln xmlns:a="http://schemas.openxmlformats.org/drawingml/2006/main" w="9525">
            <a:solidFill>
              <a:srgbClr val="22302D">
                <a:alpha val="1200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A89BD3E-1463-49E1-95DD-EF42BB597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362450"/>
            <a:ext cx="1733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2302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2302D"/>
                </a:solidFill>
                <a:latin typeface="Aptos"/>
                <a:ea typeface="Aptos"/>
                <a:cs typeface="Aptos"/>
              </a:rPr>
              <a:t>local 队列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630110A-754A-454F-9E60-2B9CC8812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667250"/>
            <a:ext cx="17335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36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36F"/>
                </a:solidFill>
                <a:latin typeface="Aptos"/>
                <a:ea typeface="Aptos"/>
                <a:cs typeface="Aptos"/>
              </a:rPr>
              <a:t>默认本地队列落库，稳住统计基本盘。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DF63749-F843-4675-95D5-8726D3115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533900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9B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DC50E57-8F6C-46D4-B4AE-DA9A14322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4457700"/>
            <a:ext cx="285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9B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54D329E-324F-4F2C-85FB-9D133A0AA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229100"/>
            <a:ext cx="20002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C"/>
          </a:solidFill>
          <a:ln xmlns:a="http://schemas.openxmlformats.org/drawingml/2006/main" w="9525">
            <a:solidFill>
              <a:srgbClr val="22302D">
                <a:alpha val="1200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EDC1716-F471-4643-A0BA-759FD356E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362450"/>
            <a:ext cx="17335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2302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2302D"/>
                </a:solidFill>
                <a:latin typeface="Aptos"/>
                <a:ea typeface="Aptos"/>
                <a:cs typeface="Aptos"/>
              </a:rPr>
              <a:t>shadow / fallback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B27BD1D-CBEA-4527-8A79-F97C6DCA5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5850" y="4667250"/>
            <a:ext cx="17335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36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36F"/>
                </a:solidFill>
                <a:latin typeface="Aptos"/>
                <a:ea typeface="Aptos"/>
                <a:cs typeface="Aptos"/>
              </a:rPr>
              <a:t>MQ 可选发布，本地仍兜底，先观察风险。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9A753064-8F9B-4F7F-9BB9-679D74387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4533900"/>
            <a:ext cx="51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9B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E09E3E0-0F6D-403C-84F3-10F9A8656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457700"/>
            <a:ext cx="285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9B4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4DCB821-0944-47D5-912B-CDE303734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4229100"/>
            <a:ext cx="2190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22302D">
                <a:alpha val="1200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050A86D-D2AD-4C14-AD44-159EBE2FC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362450"/>
            <a:ext cx="19240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2302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2302D"/>
                </a:solidFill>
                <a:latin typeface="Aptos"/>
                <a:ea typeface="Aptos"/>
                <a:cs typeface="Aptos"/>
              </a:rPr>
              <a:t>主链路接管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0044D40-FA27-481F-991C-AC8A8E18E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667250"/>
            <a:ext cx="19240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36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36F"/>
                </a:solidFill>
                <a:latin typeface="Aptos"/>
                <a:ea typeface="Aptos"/>
                <a:cs typeface="Aptos"/>
              </a:rPr>
              <a:t>consumer、eventId、DLQ、重聚合齐备后再切。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0F1D48C-76DA-45F1-834C-A11B6C3DC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410200"/>
            <a:ext cx="78105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3ED"/>
          </a:solidFill>
          <a:ln xmlns:a="http://schemas.openxmlformats.org/drawingml/2006/main" w="9525">
            <a:solidFill>
              <a:srgbClr val="22302D">
                <a:alpha val="1200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5F022FF-EA66-4690-9D00-29F81BDC7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543550"/>
            <a:ext cx="75438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2302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2302D"/>
                </a:solidFill>
                <a:latin typeface="Aptos"/>
                <a:ea typeface="Aptos"/>
                <a:cs typeface="Aptos"/>
              </a:rPr>
              <a:t>最终目标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48123F6-1477-4384-A673-4F4162908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848350"/>
            <a:ext cx="75438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36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36F"/>
                </a:solidFill>
                <a:latin typeface="Aptos"/>
                <a:ea typeface="Aptos"/>
                <a:cs typeface="Aptos"/>
              </a:rPr>
              <a:t>让五行人格卡既像一个能被普通用户理解的产品，也像一个经得起面试追问的工程案例。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B61C9A2-B0E5-41D2-B507-A2DC40E2E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19850"/>
            <a:ext cx="9715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302D">
              <a:alpha val="2200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4EA5106-F400-42C3-8E2B-952CD7F16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34150"/>
            <a:ext cx="2095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66736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66736F"/>
                </a:solidFill>
                <a:latin typeface="Aptos"/>
                <a:ea typeface="Aptos"/>
                <a:cs typeface="Aptos"/>
              </a:rPr>
              <a:t>五行人格卡项目展示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4742983-B89D-4978-B8A6-EAFD0D325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6496050"/>
            <a:ext cx="438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2F6F5E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6F5E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70444721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2026-06-14T01:01:25.4220000Z</dcterms:created>
  <dcterms:modified xsi:type="dcterms:W3CDTF">2026-06-14T01:01:25.4220000Z</dcterms:modified>
</coreProperties>
</file>